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61" r:id="rId5"/>
    <p:sldId id="260" r:id="rId6"/>
    <p:sldId id="259" r:id="rId7"/>
    <p:sldId id="262" r:id="rId8"/>
    <p:sldId id="263" r:id="rId9"/>
    <p:sldId id="265" r:id="rId10"/>
    <p:sldId id="268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98521"/>
    <a:srgbClr val="6698C4"/>
    <a:srgbClr val="AECAE4"/>
    <a:srgbClr val="ADCAE4"/>
    <a:srgbClr val="3576B0"/>
    <a:srgbClr val="08B864"/>
    <a:srgbClr val="5BE3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629" autoAdjust="0"/>
    <p:restoredTop sz="94660"/>
  </p:normalViewPr>
  <p:slideViewPr>
    <p:cSldViewPr snapToGrid="0">
      <p:cViewPr>
        <p:scale>
          <a:sx n="68" d="100"/>
          <a:sy n="68" d="100"/>
        </p:scale>
        <p:origin x="63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CB7B8-5516-4211-9524-134C5B80F91E}" type="datetimeFigureOut">
              <a:rPr lang="en-IN" smtClean="0"/>
              <a:t>30-03-2026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5FF0A-17CD-41FA-9F7D-C525073994C0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526495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CB7B8-5516-4211-9524-134C5B80F91E}" type="datetimeFigureOut">
              <a:rPr lang="en-IN" smtClean="0"/>
              <a:t>30-03-2026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5FF0A-17CD-41FA-9F7D-C525073994C0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407843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CB7B8-5516-4211-9524-134C5B80F91E}" type="datetimeFigureOut">
              <a:rPr lang="en-IN" smtClean="0"/>
              <a:t>30-03-2026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5FF0A-17CD-41FA-9F7D-C525073994C0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18550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CB7B8-5516-4211-9524-134C5B80F91E}" type="datetimeFigureOut">
              <a:rPr lang="en-IN" smtClean="0"/>
              <a:t>30-03-2026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5FF0A-17CD-41FA-9F7D-C525073994C0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6320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CB7B8-5516-4211-9524-134C5B80F91E}" type="datetimeFigureOut">
              <a:rPr lang="en-IN" smtClean="0"/>
              <a:t>30-03-2026</a:t>
            </a:fld>
            <a:endParaRPr lang="en-IN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5FF0A-17CD-41FA-9F7D-C525073994C0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324879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CB7B8-5516-4211-9524-134C5B80F91E}" type="datetimeFigureOut">
              <a:rPr lang="en-IN" smtClean="0"/>
              <a:t>30-03-2026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5FF0A-17CD-41FA-9F7D-C525073994C0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670631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CB7B8-5516-4211-9524-134C5B80F91E}" type="datetimeFigureOut">
              <a:rPr lang="en-IN" smtClean="0"/>
              <a:t>30-03-2026</a:t>
            </a:fld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5FF0A-17CD-41FA-9F7D-C525073994C0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143687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CB7B8-5516-4211-9524-134C5B80F91E}" type="datetimeFigureOut">
              <a:rPr lang="en-IN" smtClean="0"/>
              <a:t>30-03-2026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5FF0A-17CD-41FA-9F7D-C525073994C0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367011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CB7B8-5516-4211-9524-134C5B80F91E}" type="datetimeFigureOut">
              <a:rPr lang="en-IN" smtClean="0"/>
              <a:t>30-03-2026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5FF0A-17CD-41FA-9F7D-C525073994C0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883268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CB7B8-5516-4211-9524-134C5B80F91E}" type="datetimeFigureOut">
              <a:rPr lang="en-IN" smtClean="0"/>
              <a:t>30-03-2026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5FF0A-17CD-41FA-9F7D-C525073994C0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58957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CB7B8-5516-4211-9524-134C5B80F91E}" type="datetimeFigureOut">
              <a:rPr lang="en-IN" smtClean="0"/>
              <a:t>30-03-2026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5FF0A-17CD-41FA-9F7D-C525073994C0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110451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1CB7B8-5516-4211-9524-134C5B80F91E}" type="datetimeFigureOut">
              <a:rPr lang="en-IN" smtClean="0"/>
              <a:t>30-03-2026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B5FF0A-17CD-41FA-9F7D-C525073994C0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41585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microsoft.com/office/2007/relationships/hdphoto" Target="../media/hdphoto1.wdp"/><Relationship Id="rId7" Type="http://schemas.microsoft.com/office/2007/relationships/hdphoto" Target="../media/hdphoto3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.png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microsoft.com/office/2007/relationships/hdphoto" Target="../media/hdphoto8.wdp"/><Relationship Id="rId18" Type="http://schemas.openxmlformats.org/officeDocument/2006/relationships/image" Target="../media/image13.png"/><Relationship Id="rId3" Type="http://schemas.microsoft.com/office/2007/relationships/hdphoto" Target="../media/hdphoto1.wdp"/><Relationship Id="rId7" Type="http://schemas.microsoft.com/office/2007/relationships/hdphoto" Target="../media/hdphoto5.wdp"/><Relationship Id="rId12" Type="http://schemas.openxmlformats.org/officeDocument/2006/relationships/image" Target="../media/image10.png"/><Relationship Id="rId17" Type="http://schemas.microsoft.com/office/2007/relationships/hdphoto" Target="../media/hdphoto10.wdp"/><Relationship Id="rId2" Type="http://schemas.openxmlformats.org/officeDocument/2006/relationships/image" Target="../media/image5.png"/><Relationship Id="rId16" Type="http://schemas.openxmlformats.org/officeDocument/2006/relationships/image" Target="../media/image1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.png"/><Relationship Id="rId11" Type="http://schemas.microsoft.com/office/2007/relationships/hdphoto" Target="../media/hdphoto7.wdp"/><Relationship Id="rId5" Type="http://schemas.microsoft.com/office/2007/relationships/hdphoto" Target="../media/hdphoto4.wdp"/><Relationship Id="rId15" Type="http://schemas.microsoft.com/office/2007/relationships/hdphoto" Target="../media/hdphoto9.wdp"/><Relationship Id="rId10" Type="http://schemas.openxmlformats.org/officeDocument/2006/relationships/image" Target="../media/image9.png"/><Relationship Id="rId19" Type="http://schemas.microsoft.com/office/2007/relationships/hdphoto" Target="../media/hdphoto11.wdp"/><Relationship Id="rId4" Type="http://schemas.openxmlformats.org/officeDocument/2006/relationships/image" Target="../media/image6.png"/><Relationship Id="rId9" Type="http://schemas.microsoft.com/office/2007/relationships/hdphoto" Target="../media/hdphoto6.wdp"/><Relationship Id="rId1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microsoft.com/office/2007/relationships/hdphoto" Target="../media/hdphoto1.wdp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72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045590" y="4635467"/>
            <a:ext cx="10515600" cy="1325563"/>
          </a:xfrm>
          <a:effectLst>
            <a:glow rad="228600">
              <a:schemeClr val="accent6">
                <a:satMod val="175000"/>
                <a:alpha val="40000"/>
              </a:schemeClr>
            </a:glow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>
            <a:noAutofit/>
          </a:bodyPr>
          <a:lstStyle/>
          <a:p>
            <a:pPr algn="ctr"/>
            <a:r>
              <a:rPr lang="en-US" sz="5400" b="1" spc="600" dirty="0" smtClean="0">
                <a:gradFill flip="none" rotWithShape="1">
                  <a:gsLst>
                    <a:gs pos="0">
                      <a:srgbClr val="08B864">
                        <a:tint val="66000"/>
                        <a:satMod val="160000"/>
                      </a:srgbClr>
                    </a:gs>
                    <a:gs pos="50000">
                      <a:srgbClr val="08B864">
                        <a:tint val="44500"/>
                        <a:satMod val="160000"/>
                      </a:srgbClr>
                    </a:gs>
                    <a:gs pos="100000">
                      <a:srgbClr val="08B864">
                        <a:tint val="23500"/>
                        <a:satMod val="160000"/>
                      </a:srgbClr>
                    </a:gs>
                  </a:gsLst>
                  <a:lin ang="13500000" scaled="1"/>
                  <a:tileRect/>
                </a:gradFill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</a:rPr>
              <a:t>DIABETIC RETINOPATHY PREDICTION</a:t>
            </a:r>
            <a:endParaRPr lang="en-IN" sz="5400" b="1" spc="600" dirty="0">
              <a:gradFill flip="none" rotWithShape="1">
                <a:gsLst>
                  <a:gs pos="0">
                    <a:srgbClr val="08B864">
                      <a:tint val="66000"/>
                      <a:satMod val="160000"/>
                    </a:srgbClr>
                  </a:gs>
                  <a:gs pos="50000">
                    <a:srgbClr val="08B864">
                      <a:tint val="44500"/>
                      <a:satMod val="160000"/>
                    </a:srgbClr>
                  </a:gs>
                  <a:gs pos="100000">
                    <a:srgbClr val="08B864">
                      <a:tint val="23500"/>
                      <a:satMod val="160000"/>
                    </a:srgbClr>
                  </a:gs>
                </a:gsLst>
                <a:lin ang="13500000" scaled="1"/>
                <a:tileRect/>
              </a:gradFill>
              <a:effectLst>
                <a:glow rad="228600">
                  <a:schemeClr val="accent6">
                    <a:satMod val="175000"/>
                    <a:alpha val="40000"/>
                  </a:schemeClr>
                </a:glow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lgerian" panose="04020705040A02060702" pitchFamily="82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59876" y="405353"/>
            <a:ext cx="45908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spc="300" dirty="0">
                <a:solidFill>
                  <a:srgbClr val="5BE3F5"/>
                </a:solidFill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  <a:ea typeface="+mj-ea"/>
                <a:cs typeface="+mj-cs"/>
              </a:rPr>
              <a:t>GROUP 2 PRESENTS:-</a:t>
            </a:r>
            <a:endParaRPr lang="en-IN" b="1" spc="300" dirty="0">
              <a:solidFill>
                <a:srgbClr val="5BE3F5"/>
              </a:solidFill>
              <a:effectLst>
                <a:glow rad="228600">
                  <a:schemeClr val="accent6">
                    <a:satMod val="175000"/>
                    <a:alpha val="40000"/>
                  </a:schemeClr>
                </a:glow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lgerian" panose="04020705040A02060702" pitchFamily="82" charset="0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9008471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72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>
            <a:solidFill>
              <a:srgbClr val="E98521"/>
            </a:solidFill>
            <a:tailEnd type="triangle"/>
          </a:ln>
        </p:spPr>
      </p:pic>
      <p:cxnSp>
        <p:nvCxnSpPr>
          <p:cNvPr id="8" name="Elbow Connector 7"/>
          <p:cNvCxnSpPr/>
          <p:nvPr/>
        </p:nvCxnSpPr>
        <p:spPr>
          <a:xfrm rot="16200000" flipH="1">
            <a:off x="8053899" y="4120037"/>
            <a:ext cx="822749" cy="641021"/>
          </a:xfrm>
          <a:prstGeom prst="bentConnector3">
            <a:avLst>
              <a:gd name="adj1" fmla="val 50000"/>
            </a:avLst>
          </a:prstGeom>
          <a:ln>
            <a:solidFill>
              <a:srgbClr val="E9852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Elbow Connector 10"/>
          <p:cNvCxnSpPr/>
          <p:nvPr/>
        </p:nvCxnSpPr>
        <p:spPr>
          <a:xfrm flipV="1">
            <a:off x="7986860" y="1307967"/>
            <a:ext cx="1039356" cy="893978"/>
          </a:xfrm>
          <a:prstGeom prst="bentConnector3">
            <a:avLst/>
          </a:prstGeom>
          <a:ln>
            <a:solidFill>
              <a:srgbClr val="E9852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Elbow Connector 11"/>
          <p:cNvCxnSpPr/>
          <p:nvPr/>
        </p:nvCxnSpPr>
        <p:spPr>
          <a:xfrm flipH="1">
            <a:off x="2968657" y="4029174"/>
            <a:ext cx="893975" cy="884548"/>
          </a:xfrm>
          <a:prstGeom prst="bentConnector3">
            <a:avLst/>
          </a:prstGeom>
          <a:ln>
            <a:solidFill>
              <a:srgbClr val="E9852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Elbow Connector 12"/>
          <p:cNvCxnSpPr/>
          <p:nvPr/>
        </p:nvCxnSpPr>
        <p:spPr>
          <a:xfrm rot="10800000">
            <a:off x="2206658" y="1485508"/>
            <a:ext cx="1655974" cy="861766"/>
          </a:xfrm>
          <a:prstGeom prst="bentConnector3">
            <a:avLst/>
          </a:prstGeom>
          <a:ln>
            <a:solidFill>
              <a:srgbClr val="E9852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 flipH="1" flipV="1">
            <a:off x="5524107" y="1307969"/>
            <a:ext cx="11272" cy="511541"/>
          </a:xfrm>
          <a:prstGeom prst="straightConnector1">
            <a:avLst/>
          </a:prstGeom>
          <a:ln>
            <a:solidFill>
              <a:srgbClr val="E9852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Picture 18"/>
          <p:cNvPicPr>
            <a:picLocks noChangeAspect="1"/>
          </p:cNvPicPr>
          <p:nvPr/>
        </p:nvPicPr>
        <p:blipFill rotWithShape="1">
          <a:blip r:embed="rId4" cstate="print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47169"/>
          <a:stretch/>
        </p:blipFill>
        <p:spPr>
          <a:xfrm>
            <a:off x="1335843" y="1122115"/>
            <a:ext cx="868077" cy="802199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 rotWithShape="1">
          <a:blip r:embed="rId6" cstate="print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47169"/>
          <a:stretch/>
        </p:blipFill>
        <p:spPr>
          <a:xfrm>
            <a:off x="2102988" y="4579423"/>
            <a:ext cx="868077" cy="802199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 rotWithShape="1">
          <a:blip r:embed="rId6" cstate="print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47169"/>
          <a:stretch/>
        </p:blipFill>
        <p:spPr>
          <a:xfrm>
            <a:off x="8871408" y="683308"/>
            <a:ext cx="868077" cy="802199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 rotWithShape="1">
          <a:blip r:embed="rId6" cstate="print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47169"/>
          <a:stretch/>
        </p:blipFill>
        <p:spPr>
          <a:xfrm>
            <a:off x="8592176" y="4711074"/>
            <a:ext cx="868077" cy="802199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 rotWithShape="1">
          <a:blip r:embed="rId8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221" r="11670"/>
          <a:stretch/>
        </p:blipFill>
        <p:spPr>
          <a:xfrm>
            <a:off x="5100570" y="541091"/>
            <a:ext cx="669303" cy="887040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 rotWithShape="1">
          <a:blip r:embed="rId8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221" r="11670"/>
          <a:stretch/>
        </p:blipFill>
        <p:spPr>
          <a:xfrm>
            <a:off x="5535379" y="4851921"/>
            <a:ext cx="669303" cy="887040"/>
          </a:xfrm>
          <a:prstGeom prst="rect">
            <a:avLst/>
          </a:prstGeom>
        </p:spPr>
      </p:pic>
      <p:cxnSp>
        <p:nvCxnSpPr>
          <p:cNvPr id="26" name="Straight Arrow Connector 25"/>
          <p:cNvCxnSpPr/>
          <p:nvPr/>
        </p:nvCxnSpPr>
        <p:spPr>
          <a:xfrm>
            <a:off x="5860429" y="4408995"/>
            <a:ext cx="0" cy="571527"/>
          </a:xfrm>
          <a:prstGeom prst="straightConnector1">
            <a:avLst/>
          </a:prstGeom>
          <a:ln>
            <a:solidFill>
              <a:srgbClr val="E9852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556181" y="1886607"/>
            <a:ext cx="229071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>
                <a:solidFill>
                  <a:schemeClr val="bg1"/>
                </a:solidFill>
                <a:latin typeface="Comic Sans MS" panose="030F0702030302020204" pitchFamily="66" charset="0"/>
                <a:ea typeface="Microsoft JhengHei UI" panose="020B0604030504040204" pitchFamily="34" charset="-120"/>
              </a:rPr>
              <a:t>AKSHAY PHADATARE</a:t>
            </a:r>
          </a:p>
          <a:p>
            <a:pPr algn="ctr"/>
            <a:r>
              <a:rPr lang="en-US" sz="1400" dirty="0" smtClean="0">
                <a:solidFill>
                  <a:schemeClr val="bg1"/>
                </a:solidFill>
                <a:latin typeface="Comic Sans MS" panose="030F0702030302020204" pitchFamily="66" charset="0"/>
                <a:ea typeface="Microsoft JhengHei UI" panose="020B0604030504040204" pitchFamily="34" charset="-120"/>
              </a:rPr>
              <a:t>(</a:t>
            </a:r>
            <a:r>
              <a:rPr lang="en-US" sz="1400" dirty="0" smtClean="0">
                <a:solidFill>
                  <a:schemeClr val="bg1"/>
                </a:solidFill>
                <a:latin typeface="Comic Sans MS" panose="030F0702030302020204" pitchFamily="66" charset="0"/>
                <a:ea typeface="Microsoft JhengHei UI" panose="020B0604030504040204" pitchFamily="34" charset="-120"/>
              </a:rPr>
              <a:t>EDA &amp; FEATURE </a:t>
            </a:r>
          </a:p>
          <a:p>
            <a:pPr algn="ctr"/>
            <a:r>
              <a:rPr lang="en-US" sz="1400" dirty="0" smtClean="0">
                <a:solidFill>
                  <a:schemeClr val="bg1"/>
                </a:solidFill>
                <a:latin typeface="Comic Sans MS" panose="030F0702030302020204" pitchFamily="66" charset="0"/>
                <a:ea typeface="Microsoft JhengHei UI" panose="020B0604030504040204" pitchFamily="34" charset="-120"/>
              </a:rPr>
              <a:t>ENGINEERING</a:t>
            </a:r>
            <a:r>
              <a:rPr lang="en-US" sz="1400" dirty="0" smtClean="0">
                <a:solidFill>
                  <a:schemeClr val="bg1"/>
                </a:solidFill>
                <a:latin typeface="Comic Sans MS" panose="030F0702030302020204" pitchFamily="66" charset="0"/>
                <a:ea typeface="Microsoft JhengHei UI" panose="020B0604030504040204" pitchFamily="34" charset="-120"/>
              </a:rPr>
              <a:t>)</a:t>
            </a:r>
            <a:endParaRPr lang="en-IN" sz="1400" dirty="0">
              <a:solidFill>
                <a:schemeClr val="bg1"/>
              </a:solidFill>
              <a:latin typeface="Comic Sans MS" panose="030F0702030302020204" pitchFamily="66" charset="0"/>
              <a:ea typeface="Microsoft JhengHei UI" panose="020B0604030504040204" pitchFamily="34" charset="-12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571918" y="5294670"/>
            <a:ext cx="22907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solidFill>
                  <a:schemeClr val="bg1"/>
                </a:solidFill>
                <a:latin typeface="Comic Sans MS" panose="030F0702030302020204" pitchFamily="66" charset="0"/>
              </a:rPr>
              <a:t>GAJULA ANIL KUMAR</a:t>
            </a:r>
          </a:p>
          <a:p>
            <a:r>
              <a:rPr lang="en-US" sz="1400" dirty="0" smtClean="0">
                <a:solidFill>
                  <a:schemeClr val="bg1"/>
                </a:solidFill>
                <a:latin typeface="Comic Sans MS" panose="030F0702030302020204" pitchFamily="66" charset="0"/>
              </a:rPr>
              <a:t>(MODEL BUILDING)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99492" y="5617835"/>
            <a:ext cx="27439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>
                <a:solidFill>
                  <a:schemeClr val="bg1"/>
                </a:solidFill>
                <a:latin typeface="Comic Sans MS" panose="030F0702030302020204" pitchFamily="66" charset="0"/>
              </a:rPr>
              <a:t>SHRUTI MARKAR</a:t>
            </a:r>
          </a:p>
          <a:p>
            <a:pPr algn="ctr"/>
            <a:r>
              <a:rPr lang="en-US" sz="1400" dirty="0" smtClean="0">
                <a:solidFill>
                  <a:schemeClr val="bg1"/>
                </a:solidFill>
                <a:latin typeface="Comic Sans MS" panose="030F0702030302020204" pitchFamily="66" charset="0"/>
              </a:rPr>
              <a:t>(FINAL PRESENTATION)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41456" y="4799871"/>
            <a:ext cx="22907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solidFill>
                  <a:schemeClr val="bg1"/>
                </a:solidFill>
                <a:latin typeface="Comic Sans MS" panose="030F0702030302020204" pitchFamily="66" charset="0"/>
              </a:rPr>
              <a:t>VISHNU S K</a:t>
            </a:r>
          </a:p>
          <a:p>
            <a:r>
              <a:rPr lang="en-US" sz="1400" dirty="0" smtClean="0">
                <a:solidFill>
                  <a:schemeClr val="bg1"/>
                </a:solidFill>
                <a:latin typeface="Comic Sans MS" panose="030F0702030302020204" pitchFamily="66" charset="0"/>
              </a:rPr>
              <a:t>(DEPLOYMENT)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769873" y="727701"/>
            <a:ext cx="229071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solidFill>
                  <a:schemeClr val="bg1"/>
                </a:solidFill>
                <a:latin typeface="Comic Sans MS" panose="030F0702030302020204" pitchFamily="66" charset="0"/>
              </a:rPr>
              <a:t>RUTUJA PHADATARE</a:t>
            </a:r>
          </a:p>
          <a:p>
            <a:pPr algn="ctr"/>
            <a:r>
              <a:rPr lang="en-US" sz="1400" dirty="0" smtClean="0">
                <a:solidFill>
                  <a:schemeClr val="bg1"/>
                </a:solidFill>
                <a:latin typeface="Comic Sans MS" panose="030F0702030302020204" pitchFamily="66" charset="0"/>
              </a:rPr>
              <a:t>(</a:t>
            </a:r>
            <a:r>
              <a:rPr lang="en-US" sz="1400" dirty="0">
                <a:solidFill>
                  <a:schemeClr val="bg1"/>
                </a:solidFill>
                <a:latin typeface="Comic Sans MS" panose="030F0702030302020204" pitchFamily="66" charset="0"/>
                <a:ea typeface="Microsoft JhengHei UI" panose="020B0604030504040204" pitchFamily="34" charset="-120"/>
              </a:rPr>
              <a:t>EDA &amp; FEATURE </a:t>
            </a:r>
          </a:p>
          <a:p>
            <a:pPr algn="ctr"/>
            <a:r>
              <a:rPr lang="en-US" sz="1400" dirty="0">
                <a:solidFill>
                  <a:schemeClr val="bg1"/>
                </a:solidFill>
                <a:latin typeface="Comic Sans MS" panose="030F0702030302020204" pitchFamily="66" charset="0"/>
                <a:ea typeface="Microsoft JhengHei UI" panose="020B0604030504040204" pitchFamily="34" charset="-120"/>
              </a:rPr>
              <a:t>ENGINEERING</a:t>
            </a:r>
            <a:r>
              <a:rPr lang="en-US" sz="1400" dirty="0" smtClean="0">
                <a:solidFill>
                  <a:schemeClr val="bg1"/>
                </a:solidFill>
                <a:latin typeface="Comic Sans MS" panose="030F0702030302020204" pitchFamily="66" charset="0"/>
              </a:rPr>
              <a:t>)</a:t>
            </a:r>
            <a:endParaRPr lang="en-IN" sz="1400" dirty="0">
              <a:solidFill>
                <a:schemeClr val="bg1"/>
              </a:solidFill>
              <a:latin typeface="Comic Sans MS" panose="030F0702030302020204" pitchFamily="66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8612175" y="1450651"/>
            <a:ext cx="1696155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400" dirty="0" smtClean="0">
                <a:solidFill>
                  <a:schemeClr val="bg1"/>
                </a:solidFill>
                <a:latin typeface="Comic Sans MS" panose="030F0702030302020204" pitchFamily="66" charset="0"/>
              </a:rPr>
              <a:t>ROHIT RAJEEV</a:t>
            </a:r>
          </a:p>
          <a:p>
            <a:r>
              <a:rPr lang="en-US" sz="1400" dirty="0" smtClean="0">
                <a:solidFill>
                  <a:schemeClr val="bg1"/>
                </a:solidFill>
                <a:latin typeface="Comic Sans MS" panose="030F0702030302020204" pitchFamily="66" charset="0"/>
              </a:rPr>
              <a:t>(DEPLOYMENT)</a:t>
            </a:r>
            <a:endParaRPr lang="en-IN" sz="1400" dirty="0">
              <a:solidFill>
                <a:schemeClr val="bg1"/>
              </a:solidFill>
              <a:latin typeface="Comic Sans MS" panose="030F0702030302020204" pitchFamily="66" charset="0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241599" y="142679"/>
            <a:ext cx="45908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spc="300" dirty="0" smtClean="0">
                <a:gradFill flip="none" rotWithShape="1">
                  <a:gsLst>
                    <a:gs pos="0">
                      <a:srgbClr val="08B864">
                        <a:tint val="66000"/>
                        <a:satMod val="160000"/>
                      </a:srgbClr>
                    </a:gs>
                    <a:gs pos="50000">
                      <a:srgbClr val="08B864">
                        <a:tint val="44500"/>
                        <a:satMod val="160000"/>
                      </a:srgbClr>
                    </a:gs>
                    <a:gs pos="100000">
                      <a:srgbClr val="08B864">
                        <a:tint val="23500"/>
                        <a:satMod val="160000"/>
                      </a:srgbClr>
                    </a:gs>
                  </a:gsLst>
                  <a:lin ang="13500000" scaled="1"/>
                  <a:tileRect/>
                </a:gradFill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  <a:ea typeface="+mj-ea"/>
                <a:cs typeface="+mj-cs"/>
              </a:rPr>
              <a:t>MEET THE MEMBERS:-</a:t>
            </a:r>
            <a:endParaRPr lang="en-IN" sz="2800" b="1" spc="300" dirty="0">
              <a:gradFill flip="none" rotWithShape="1">
                <a:gsLst>
                  <a:gs pos="0">
                    <a:srgbClr val="08B864">
                      <a:tint val="66000"/>
                      <a:satMod val="160000"/>
                    </a:srgbClr>
                  </a:gs>
                  <a:gs pos="50000">
                    <a:srgbClr val="08B864">
                      <a:tint val="44500"/>
                      <a:satMod val="160000"/>
                    </a:srgbClr>
                  </a:gs>
                  <a:gs pos="100000">
                    <a:srgbClr val="08B864">
                      <a:tint val="23500"/>
                      <a:satMod val="160000"/>
                    </a:srgbClr>
                  </a:gs>
                </a:gsLst>
                <a:lin ang="13500000" scaled="1"/>
                <a:tileRect/>
              </a:gradFill>
              <a:effectLst>
                <a:glow rad="228600">
                  <a:schemeClr val="accent6">
                    <a:satMod val="175000"/>
                    <a:alpha val="40000"/>
                  </a:schemeClr>
                </a:glow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lgerian" panose="04020705040A02060702" pitchFamily="82" charset="0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0023443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  <a14:imgEffect>
                      <a14:sharpenSoften amount="-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itle 6"/>
          <p:cNvSpPr txBox="1">
            <a:spLocks noGrp="1"/>
          </p:cNvSpPr>
          <p:nvPr>
            <p:ph type="title"/>
          </p:nvPr>
        </p:nvSpPr>
        <p:spPr>
          <a:xfrm>
            <a:off x="838200" y="327418"/>
            <a:ext cx="10515600" cy="783193"/>
          </a:xfrm>
          <a:prstGeom prst="roundRect">
            <a:avLst/>
          </a:prstGeom>
          <a:noFill/>
          <a:ln>
            <a:solidFill>
              <a:srgbClr val="E98521"/>
            </a:solidFill>
          </a:ln>
        </p:spPr>
        <p:txBody>
          <a:bodyPr wrap="square" rtlCol="0" anchor="t">
            <a:spAutoFit/>
          </a:bodyPr>
          <a:lstStyle/>
          <a:p>
            <a:pPr lvl="0" algn="ctr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en-US" sz="4000" b="1" spc="300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</a:rPr>
              <a:t>Project insight:-</a:t>
            </a:r>
            <a:endParaRPr lang="en-IN" sz="2800" b="1" spc="30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mic Sans MS" panose="030F0702030302020204" pitchFamily="66" charset="0"/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838200" y="1282045"/>
            <a:ext cx="10515600" cy="4894917"/>
          </a:xfrm>
          <a:prstGeom prst="roundRect">
            <a:avLst/>
          </a:prstGeom>
          <a:ln>
            <a:solidFill>
              <a:srgbClr val="E98521"/>
            </a:solidFill>
          </a:ln>
        </p:spPr>
        <p:txBody>
          <a:bodyPr>
            <a:normAutofit lnSpcReduction="10000"/>
          </a:bodyPr>
          <a:lstStyle/>
          <a:p>
            <a:r>
              <a:rPr lang="en-US" altLang="en-US" sz="2400" b="1" dirty="0">
                <a:solidFill>
                  <a:srgbClr val="E98521"/>
                </a:solidFill>
                <a:latin typeface="Comic Sans MS" panose="030F0702030302020204" pitchFamily="66" charset="0"/>
              </a:rPr>
              <a:t>Diabetic Retinopathy </a:t>
            </a:r>
            <a:r>
              <a:rPr lang="en-US" altLang="en-US" sz="2400" dirty="0">
                <a:solidFill>
                  <a:schemeClr val="bg1"/>
                </a:solidFill>
                <a:latin typeface="Comic Sans MS" panose="030F0702030302020204" pitchFamily="66" charset="0"/>
              </a:rPr>
              <a:t>is a serious eye condition caused by prolonged high blood sugar levels. </a:t>
            </a:r>
            <a:endParaRPr lang="en-US" altLang="en-US" sz="2400" dirty="0" smtClean="0">
              <a:solidFill>
                <a:schemeClr val="bg1"/>
              </a:solidFill>
              <a:latin typeface="Comic Sans MS" panose="030F0702030302020204" pitchFamily="66" charset="0"/>
            </a:endParaRPr>
          </a:p>
          <a:p>
            <a:r>
              <a:rPr lang="en-US" altLang="en-US" sz="2400" dirty="0" smtClean="0">
                <a:solidFill>
                  <a:schemeClr val="bg1"/>
                </a:solidFill>
                <a:latin typeface="Comic Sans MS" panose="030F0702030302020204" pitchFamily="66" charset="0"/>
              </a:rPr>
              <a:t>It damages the blood vessels in the retina, leading to vision impairment. </a:t>
            </a:r>
          </a:p>
          <a:p>
            <a:r>
              <a:rPr lang="en-US" altLang="en-US" sz="2400" dirty="0" smtClean="0">
                <a:solidFill>
                  <a:schemeClr val="bg1"/>
                </a:solidFill>
                <a:latin typeface="Comic Sans MS" panose="030F0702030302020204" pitchFamily="66" charset="0"/>
              </a:rPr>
              <a:t>It is one of the leading causes of blindness among working-age adults. </a:t>
            </a:r>
          </a:p>
          <a:p>
            <a:r>
              <a:rPr lang="en-US" altLang="en-US" sz="2400" dirty="0" smtClean="0">
                <a:solidFill>
                  <a:schemeClr val="bg1"/>
                </a:solidFill>
                <a:latin typeface="Comic Sans MS" panose="030F0702030302020204" pitchFamily="66" charset="0"/>
              </a:rPr>
              <a:t>Early detection can significantly reduce the risk of vision loss. </a:t>
            </a:r>
            <a:br>
              <a:rPr lang="en-US" altLang="en-US" sz="2400" dirty="0" smtClean="0">
                <a:solidFill>
                  <a:schemeClr val="bg1"/>
                </a:solidFill>
                <a:latin typeface="Comic Sans MS" panose="030F0702030302020204" pitchFamily="66" charset="0"/>
              </a:rPr>
            </a:br>
            <a:r>
              <a:rPr lang="en-US" altLang="en-US" sz="2400" dirty="0" smtClean="0">
                <a:solidFill>
                  <a:schemeClr val="bg1"/>
                </a:solidFill>
                <a:latin typeface="Comic Sans MS" panose="030F0702030302020204" pitchFamily="66" charset="0"/>
              </a:rPr>
              <a:t>Machine Learning can help predict the likelihood of retinopathy using patient health data. </a:t>
            </a:r>
            <a:br>
              <a:rPr lang="en-US" altLang="en-US" sz="2400" dirty="0" smtClean="0">
                <a:solidFill>
                  <a:schemeClr val="bg1"/>
                </a:solidFill>
                <a:latin typeface="Comic Sans MS" panose="030F0702030302020204" pitchFamily="66" charset="0"/>
              </a:rPr>
            </a:br>
            <a:r>
              <a:rPr lang="en-US" altLang="en-US" sz="2400" dirty="0" smtClean="0">
                <a:solidFill>
                  <a:schemeClr val="bg1"/>
                </a:solidFill>
                <a:latin typeface="Comic Sans MS" panose="030F0702030302020204" pitchFamily="66" charset="0"/>
              </a:rPr>
              <a:t/>
            </a:r>
            <a:br>
              <a:rPr lang="en-US" altLang="en-US" sz="2400" dirty="0" smtClean="0">
                <a:solidFill>
                  <a:schemeClr val="bg1"/>
                </a:solidFill>
                <a:latin typeface="Comic Sans MS" panose="030F0702030302020204" pitchFamily="66" charset="0"/>
              </a:rPr>
            </a:br>
            <a:r>
              <a:rPr lang="en-US" altLang="en-US" sz="2400" dirty="0" smtClean="0">
                <a:solidFill>
                  <a:schemeClr val="bg1"/>
                </a:solidFill>
                <a:latin typeface="Comic Sans MS" panose="030F0702030302020204" pitchFamily="66" charset="0"/>
              </a:rPr>
              <a:t/>
            </a:r>
            <a:br>
              <a:rPr lang="en-US" altLang="en-US" sz="2400" dirty="0" smtClean="0">
                <a:solidFill>
                  <a:schemeClr val="bg1"/>
                </a:solidFill>
                <a:latin typeface="Comic Sans MS" panose="030F0702030302020204" pitchFamily="66" charset="0"/>
              </a:rPr>
            </a:br>
            <a:r>
              <a:rPr lang="en-US" altLang="en-US" sz="2400" dirty="0">
                <a:solidFill>
                  <a:schemeClr val="bg1"/>
                </a:solidFill>
                <a:latin typeface="Comic Sans MS" panose="030F0702030302020204" pitchFamily="66" charset="0"/>
              </a:rPr>
              <a:t/>
            </a:r>
            <a:br>
              <a:rPr lang="en-US" altLang="en-US" sz="2400" dirty="0">
                <a:solidFill>
                  <a:schemeClr val="bg1"/>
                </a:solidFill>
                <a:latin typeface="Comic Sans MS" panose="030F0702030302020204" pitchFamily="66" charset="0"/>
              </a:rPr>
            </a:b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6774265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  <a14:imgEffect>
                      <a14:sharpenSoften amount="-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itle 6"/>
          <p:cNvSpPr txBox="1">
            <a:spLocks noGrp="1"/>
          </p:cNvSpPr>
          <p:nvPr>
            <p:ph type="title"/>
          </p:nvPr>
        </p:nvSpPr>
        <p:spPr>
          <a:xfrm>
            <a:off x="838200" y="327418"/>
            <a:ext cx="10515600" cy="783193"/>
          </a:xfrm>
          <a:prstGeom prst="roundRect">
            <a:avLst/>
          </a:prstGeom>
          <a:noFill/>
          <a:ln>
            <a:solidFill>
              <a:srgbClr val="E98521"/>
            </a:solidFill>
          </a:ln>
        </p:spPr>
        <p:txBody>
          <a:bodyPr wrap="square" rtlCol="0" anchor="t">
            <a:spAutoFit/>
          </a:bodyPr>
          <a:lstStyle/>
          <a:p>
            <a:pPr lvl="0" algn="ctr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en-US" sz="4000" b="1" spc="300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Algerian" panose="04020705040A02060702" pitchFamily="82" charset="0"/>
              </a:rPr>
              <a:t>Project overview:-</a:t>
            </a:r>
            <a:endParaRPr lang="en-IN" sz="2800" b="1" spc="30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latin typeface="Comic Sans MS" panose="030F0702030302020204" pitchFamily="66" charset="0"/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838200" y="1253765"/>
            <a:ext cx="10515600" cy="4923197"/>
          </a:xfrm>
          <a:prstGeom prst="roundRect">
            <a:avLst/>
          </a:prstGeom>
          <a:ln>
            <a:solidFill>
              <a:srgbClr val="E98521"/>
            </a:solidFill>
          </a:ln>
        </p:spPr>
        <p:txBody>
          <a:bodyPr>
            <a:noAutofit/>
          </a:bodyPr>
          <a:lstStyle/>
          <a:p>
            <a:r>
              <a:rPr lang="en-US" sz="1600" b="1" u="sng" spc="300" dirty="0" smtClean="0">
                <a:solidFill>
                  <a:srgbClr val="08B86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</a:rPr>
              <a:t>BUSINESS OBJECTIVE:- </a:t>
            </a:r>
          </a:p>
          <a:p>
            <a:pPr marL="0" indent="0">
              <a:buNone/>
            </a:pPr>
            <a:r>
              <a:rPr lang="en-US" sz="1600" dirty="0" smtClean="0">
                <a:solidFill>
                  <a:schemeClr val="bg1"/>
                </a:solidFill>
                <a:latin typeface="Comic Sans MS" panose="030F0702030302020204" pitchFamily="66" charset="0"/>
              </a:rPr>
              <a:t>Develop a </a:t>
            </a:r>
            <a:r>
              <a:rPr lang="en-US" sz="1600" b="1" dirty="0" smtClean="0">
                <a:solidFill>
                  <a:srgbClr val="E98521"/>
                </a:solidFill>
                <a:latin typeface="Comic Sans MS" panose="030F0702030302020204" pitchFamily="66" charset="0"/>
              </a:rPr>
              <a:t>binary classification model</a:t>
            </a:r>
            <a:r>
              <a:rPr lang="en-US" sz="1600" dirty="0" smtClean="0">
                <a:solidFill>
                  <a:srgbClr val="E98521"/>
                </a:solidFill>
                <a:latin typeface="Comic Sans MS" panose="030F0702030302020204" pitchFamily="66" charset="0"/>
              </a:rPr>
              <a:t> </a:t>
            </a:r>
            <a:r>
              <a:rPr lang="en-US" sz="1600" dirty="0" smtClean="0">
                <a:solidFill>
                  <a:schemeClr val="bg1"/>
                </a:solidFill>
                <a:latin typeface="Comic Sans MS" panose="030F0702030302020204" pitchFamily="66" charset="0"/>
              </a:rPr>
              <a:t>to predict diabetic retinopathy.</a:t>
            </a:r>
            <a:endParaRPr lang="en-US" altLang="en-US" sz="1600" dirty="0" smtClean="0">
              <a:solidFill>
                <a:schemeClr val="bg1"/>
              </a:solidFill>
              <a:latin typeface="Comic Sans MS" panose="030F0702030302020204" pitchFamily="66" charset="0"/>
            </a:endParaRPr>
          </a:p>
          <a:p>
            <a:r>
              <a:rPr lang="en-US" altLang="en-US" sz="1600" b="1" u="sng" spc="300" dirty="0" smtClean="0">
                <a:solidFill>
                  <a:srgbClr val="08B86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</a:rPr>
              <a:t>DATASET:-</a:t>
            </a:r>
          </a:p>
          <a:p>
            <a:r>
              <a:rPr lang="en-US" altLang="en-US" sz="1600" dirty="0">
                <a:solidFill>
                  <a:schemeClr val="bg1"/>
                </a:solidFill>
                <a:latin typeface="Comic Sans MS" panose="030F0702030302020204" pitchFamily="66" charset="0"/>
              </a:rPr>
              <a:t>Total Records: 6000 </a:t>
            </a:r>
            <a:r>
              <a:rPr lang="en-US" altLang="en-US" sz="1600" dirty="0" smtClean="0">
                <a:solidFill>
                  <a:schemeClr val="bg1"/>
                </a:solidFill>
                <a:latin typeface="Comic Sans MS" panose="030F0702030302020204" pitchFamily="66" charset="0"/>
              </a:rPr>
              <a:t>patients</a:t>
            </a:r>
          </a:p>
          <a:p>
            <a:r>
              <a:rPr lang="en-US" altLang="en-US" sz="1600" dirty="0" smtClean="0">
                <a:solidFill>
                  <a:schemeClr val="bg1"/>
                </a:solidFill>
                <a:latin typeface="Comic Sans MS" panose="030F0702030302020204" pitchFamily="66" charset="0"/>
              </a:rPr>
              <a:t>Total </a:t>
            </a:r>
            <a:r>
              <a:rPr lang="en-US" altLang="en-US" sz="1600" dirty="0">
                <a:solidFill>
                  <a:schemeClr val="bg1"/>
                </a:solidFill>
                <a:latin typeface="Comic Sans MS" panose="030F0702030302020204" pitchFamily="66" charset="0"/>
              </a:rPr>
              <a:t>Features: 6 </a:t>
            </a:r>
            <a:r>
              <a:rPr lang="en-US" altLang="en-US" sz="1600" dirty="0" smtClean="0">
                <a:solidFill>
                  <a:schemeClr val="bg1"/>
                </a:solidFill>
                <a:latin typeface="Comic Sans MS" panose="030F0702030302020204" pitchFamily="66" charset="0"/>
              </a:rPr>
              <a:t>variables</a:t>
            </a:r>
          </a:p>
          <a:p>
            <a:r>
              <a:rPr lang="en-US" altLang="en-US" sz="1600" dirty="0" smtClean="0">
                <a:solidFill>
                  <a:schemeClr val="bg1"/>
                </a:solidFill>
                <a:latin typeface="Comic Sans MS" panose="030F0702030302020204" pitchFamily="66" charset="0"/>
              </a:rPr>
              <a:t>Target </a:t>
            </a:r>
            <a:r>
              <a:rPr lang="en-US" altLang="en-US" sz="1600" dirty="0">
                <a:solidFill>
                  <a:schemeClr val="bg1"/>
                </a:solidFill>
                <a:latin typeface="Comic Sans MS" panose="030F0702030302020204" pitchFamily="66" charset="0"/>
              </a:rPr>
              <a:t>Variable: Prognosis (0 or 1</a:t>
            </a:r>
            <a:r>
              <a:rPr lang="en-US" altLang="en-US" sz="1600" dirty="0" smtClean="0">
                <a:solidFill>
                  <a:schemeClr val="bg1"/>
                </a:solidFill>
                <a:latin typeface="Comic Sans MS" panose="030F0702030302020204" pitchFamily="66" charset="0"/>
              </a:rPr>
              <a:t>)</a:t>
            </a:r>
          </a:p>
          <a:p>
            <a:r>
              <a:rPr lang="en-US" altLang="en-US" sz="1600" dirty="0" smtClean="0">
                <a:solidFill>
                  <a:schemeClr val="bg1"/>
                </a:solidFill>
                <a:latin typeface="Comic Sans MS" panose="030F0702030302020204" pitchFamily="66" charset="0"/>
              </a:rPr>
              <a:t>ID: Patient ID</a:t>
            </a:r>
          </a:p>
          <a:p>
            <a:r>
              <a:rPr lang="en-US" altLang="en-US" sz="1600" dirty="0" smtClean="0">
                <a:solidFill>
                  <a:schemeClr val="bg1"/>
                </a:solidFill>
                <a:latin typeface="Comic Sans MS" panose="030F0702030302020204" pitchFamily="66" charset="0"/>
              </a:rPr>
              <a:t>Age: Patient age</a:t>
            </a:r>
          </a:p>
          <a:p>
            <a:r>
              <a:rPr lang="en-US" altLang="en-US" sz="1600" dirty="0" smtClean="0">
                <a:solidFill>
                  <a:schemeClr val="bg1"/>
                </a:solidFill>
                <a:latin typeface="Comic Sans MS" panose="030F0702030302020204" pitchFamily="66" charset="0"/>
              </a:rPr>
              <a:t>Systolic BP: Pressure during heartbeats (&lt;120 mmHg normal)</a:t>
            </a:r>
          </a:p>
          <a:p>
            <a:r>
              <a:rPr lang="en-US" altLang="en-US" sz="1600" dirty="0" smtClean="0">
                <a:solidFill>
                  <a:schemeClr val="bg1"/>
                </a:solidFill>
                <a:latin typeface="Comic Sans MS" panose="030F0702030302020204" pitchFamily="66" charset="0"/>
              </a:rPr>
              <a:t>Diastolic BP: Pressure between beats (&lt;80 mmHg normal)</a:t>
            </a:r>
          </a:p>
          <a:p>
            <a:r>
              <a:rPr lang="en-US" altLang="en-US" sz="1600" dirty="0" smtClean="0">
                <a:solidFill>
                  <a:schemeClr val="bg1"/>
                </a:solidFill>
                <a:latin typeface="Comic Sans MS" panose="030F0702030302020204" pitchFamily="66" charset="0"/>
              </a:rPr>
              <a:t>Cholesterol: 125–200 mg/dl (normal range)</a:t>
            </a:r>
          </a:p>
          <a:p>
            <a:r>
              <a:rPr lang="en-US" altLang="en-US" sz="1600" dirty="0" smtClean="0">
                <a:solidFill>
                  <a:schemeClr val="bg1"/>
                </a:solidFill>
                <a:latin typeface="Comic Sans MS" panose="030F0702030302020204" pitchFamily="66" charset="0"/>
              </a:rPr>
              <a:t>Prognosis:0 = No Retinopathy</a:t>
            </a:r>
          </a:p>
          <a:p>
            <a:pPr marL="0" indent="0">
              <a:buNone/>
            </a:pPr>
            <a:r>
              <a:rPr lang="en-US" altLang="en-US" sz="1600" dirty="0">
                <a:solidFill>
                  <a:schemeClr val="bg1"/>
                </a:solidFill>
                <a:latin typeface="Comic Sans MS" panose="030F0702030302020204" pitchFamily="66" charset="0"/>
              </a:rPr>
              <a:t> </a:t>
            </a:r>
            <a:r>
              <a:rPr lang="en-US" altLang="en-US" sz="1600" dirty="0" smtClean="0">
                <a:solidFill>
                  <a:schemeClr val="bg1"/>
                </a:solidFill>
                <a:latin typeface="Comic Sans MS" panose="030F0702030302020204" pitchFamily="66" charset="0"/>
              </a:rPr>
              <a:t>                    1 = Retinopathy Present</a:t>
            </a:r>
            <a:r>
              <a:rPr lang="en-US" altLang="en-US" sz="1400" dirty="0" smtClean="0">
                <a:solidFill>
                  <a:schemeClr val="bg1"/>
                </a:solidFill>
                <a:latin typeface="Comic Sans MS" panose="030F0702030302020204" pitchFamily="66" charset="0"/>
              </a:rPr>
              <a:t/>
            </a:r>
            <a:br>
              <a:rPr lang="en-US" altLang="en-US" sz="1400" dirty="0" smtClean="0">
                <a:solidFill>
                  <a:schemeClr val="bg1"/>
                </a:solidFill>
                <a:latin typeface="Comic Sans MS" panose="030F0702030302020204" pitchFamily="66" charset="0"/>
              </a:rPr>
            </a:br>
            <a:endParaRPr lang="en-US" altLang="en-US" sz="1600" dirty="0" smtClean="0">
              <a:solidFill>
                <a:schemeClr val="bg1"/>
              </a:solidFill>
              <a:latin typeface="Comic Sans MS" panose="030F0702030302020204" pitchFamily="66" charset="0"/>
            </a:endParaRPr>
          </a:p>
          <a:p>
            <a:endParaRPr lang="en-US" altLang="en-US" sz="1600" dirty="0">
              <a:solidFill>
                <a:schemeClr val="bg1"/>
              </a:solidFill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en-US" altLang="en-US" sz="1600" dirty="0">
                <a:solidFill>
                  <a:schemeClr val="bg1"/>
                </a:solidFill>
                <a:latin typeface="Comic Sans MS" panose="030F0702030302020204" pitchFamily="66" charset="0"/>
              </a:rPr>
              <a:t/>
            </a:r>
            <a:br>
              <a:rPr lang="en-US" altLang="en-US" sz="1600" dirty="0">
                <a:solidFill>
                  <a:schemeClr val="bg1"/>
                </a:solidFill>
                <a:latin typeface="Comic Sans MS" panose="030F0702030302020204" pitchFamily="66" charset="0"/>
              </a:rPr>
            </a:b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8217428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  <a14:imgEffect>
                      <a14:sharpenSoften amount="-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88522"/>
            <a:ext cx="12192000" cy="7246522"/>
          </a:xfrm>
          <a:prstGeom prst="rect">
            <a:avLst/>
          </a:prstGeom>
        </p:spPr>
      </p:pic>
      <p:pic>
        <p:nvPicPr>
          <p:cNvPr id="7" name="Picture 6" descr="Electronic Medical Record Stock Illustrations – 3,131 ..."/>
          <p:cNvPicPr/>
          <p:nvPr/>
        </p:nvPicPr>
        <p:blipFill rotWithShape="1">
          <a:blip r:embed="rId4" cstate="print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5135" t="28497" r="25349" b="29283"/>
          <a:stretch/>
        </p:blipFill>
        <p:spPr bwMode="auto">
          <a:xfrm>
            <a:off x="716008" y="1136342"/>
            <a:ext cx="773428" cy="645325"/>
          </a:xfrm>
          <a:prstGeom prst="rect">
            <a:avLst/>
          </a:prstGeom>
          <a:noFill/>
          <a:ln>
            <a:noFill/>
          </a:ln>
          <a:scene3d>
            <a:camera prst="orthographicFront"/>
            <a:lightRig rig="threePt" dir="t"/>
          </a:scene3d>
          <a:sp3d>
            <a:bevelT/>
          </a:sp3d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5" name="Rounded Rectangle 4"/>
          <p:cNvSpPr/>
          <p:nvPr/>
        </p:nvSpPr>
        <p:spPr>
          <a:xfrm>
            <a:off x="499406" y="1866507"/>
            <a:ext cx="1206631" cy="405353"/>
          </a:xfrm>
          <a:prstGeom prst="roundRect">
            <a:avLst/>
          </a:prstGeom>
          <a:noFill/>
          <a:ln>
            <a:solidFill>
              <a:srgbClr val="E985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ADCAE4"/>
                </a:solidFill>
                <a:latin typeface="Comic Sans MS" panose="030F0702030302020204" pitchFamily="66" charset="0"/>
              </a:rPr>
              <a:t>Dataset</a:t>
            </a:r>
            <a:endParaRPr lang="en-IN" dirty="0">
              <a:solidFill>
                <a:srgbClr val="ADCAE4"/>
              </a:solidFill>
              <a:latin typeface="Comic Sans MS" panose="030F0702030302020204" pitchFamily="66" charset="0"/>
            </a:endParaRPr>
          </a:p>
        </p:txBody>
      </p:sp>
      <p:pic>
        <p:nvPicPr>
          <p:cNvPr id="9" name="Picture 8" descr="17,600+ Data Cleaning Stock Illustrations, Royalty-Free ..."/>
          <p:cNvPicPr/>
          <p:nvPr/>
        </p:nvPicPr>
        <p:blipFill rotWithShape="1">
          <a:blip r:embed="rId6" cstate="print">
            <a:clrChange>
              <a:clrFrom>
                <a:srgbClr val="CCCCCC"/>
              </a:clrFrom>
              <a:clrTo>
                <a:srgbClr val="CCCCCC">
                  <a:alpha val="0"/>
                </a:srgbClr>
              </a:clrTo>
            </a:clrChange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40000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-34" t="14923" r="7543" b="16837"/>
          <a:stretch/>
        </p:blipFill>
        <p:spPr bwMode="auto">
          <a:xfrm>
            <a:off x="716009" y="2951017"/>
            <a:ext cx="773428" cy="650022"/>
          </a:xfrm>
          <a:prstGeom prst="rect">
            <a:avLst/>
          </a:prstGeom>
          <a:noFill/>
          <a:ln>
            <a:noFill/>
          </a:ln>
          <a:scene3d>
            <a:camera prst="orthographicFront"/>
            <a:lightRig rig="threePt" dir="t"/>
          </a:scene3d>
          <a:sp3d>
            <a:bevelT w="165100" prst="coolSlant"/>
          </a:sp3d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0" name="Rounded Rectangle 9"/>
          <p:cNvSpPr/>
          <p:nvPr/>
        </p:nvSpPr>
        <p:spPr>
          <a:xfrm>
            <a:off x="499406" y="3709662"/>
            <a:ext cx="1206631" cy="570534"/>
          </a:xfrm>
          <a:prstGeom prst="roundRect">
            <a:avLst/>
          </a:prstGeom>
          <a:noFill/>
          <a:ln>
            <a:solidFill>
              <a:srgbClr val="E985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ADCAE4"/>
                </a:solidFill>
                <a:latin typeface="Comic Sans MS" panose="030F0702030302020204" pitchFamily="66" charset="0"/>
              </a:rPr>
              <a:t>Data Cleaning</a:t>
            </a:r>
            <a:endParaRPr lang="en-IN" dirty="0">
              <a:solidFill>
                <a:srgbClr val="ADCAE4"/>
              </a:solidFill>
              <a:latin typeface="Comic Sans MS" panose="030F0702030302020204" pitchFamily="66" charset="0"/>
            </a:endParaRPr>
          </a:p>
        </p:txBody>
      </p:sp>
      <p:cxnSp>
        <p:nvCxnSpPr>
          <p:cNvPr id="11" name="Straight Arrow Connector 10"/>
          <p:cNvCxnSpPr/>
          <p:nvPr/>
        </p:nvCxnSpPr>
        <p:spPr>
          <a:xfrm>
            <a:off x="1102721" y="2347274"/>
            <a:ext cx="0" cy="60374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13" name="Picture 12" descr="Feature engineering blue gradient concept icon. Artificial intelligence.  Problem solving in machine learning abstract idea thin line illustration.  Isolated outline drawing. 9725030 Vector Art at Vecteezy"/>
          <p:cNvPicPr/>
          <p:nvPr/>
        </p:nvPicPr>
        <p:blipFill rotWithShape="1">
          <a:blip r:embed="rId8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saturation sat="0"/>
                    </a14:imgEffect>
                    <a14:imgEffect>
                      <a14:brightnessContrast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4328" t="11933" r="13574" b="20751"/>
          <a:stretch/>
        </p:blipFill>
        <p:spPr bwMode="auto">
          <a:xfrm>
            <a:off x="2592158" y="2988725"/>
            <a:ext cx="858482" cy="635287"/>
          </a:xfrm>
          <a:prstGeom prst="rect">
            <a:avLst/>
          </a:prstGeom>
          <a:noFill/>
          <a:ln>
            <a:noFill/>
          </a:ln>
          <a:effectLst/>
          <a:scene3d>
            <a:camera prst="orthographicFront"/>
            <a:lightRig rig="threePt" dir="t"/>
          </a:scene3d>
          <a:sp3d>
            <a:bevelT w="165100" prst="coolSlant"/>
          </a:sp3d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4" name="Rounded Rectangle 13"/>
          <p:cNvSpPr/>
          <p:nvPr/>
        </p:nvSpPr>
        <p:spPr>
          <a:xfrm>
            <a:off x="2247972" y="3709662"/>
            <a:ext cx="1485042" cy="570534"/>
          </a:xfrm>
          <a:prstGeom prst="roundRect">
            <a:avLst/>
          </a:prstGeom>
          <a:noFill/>
          <a:ln>
            <a:solidFill>
              <a:srgbClr val="E985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ADCAE4"/>
                </a:solidFill>
                <a:latin typeface="Comic Sans MS" panose="030F0702030302020204" pitchFamily="66" charset="0"/>
              </a:rPr>
              <a:t>Feature</a:t>
            </a:r>
          </a:p>
          <a:p>
            <a:pPr algn="ctr"/>
            <a:r>
              <a:rPr lang="en-US" dirty="0" smtClean="0">
                <a:solidFill>
                  <a:srgbClr val="ADCAE4"/>
                </a:solidFill>
                <a:latin typeface="Comic Sans MS" panose="030F0702030302020204" pitchFamily="66" charset="0"/>
              </a:rPr>
              <a:t>Engineering</a:t>
            </a:r>
            <a:endParaRPr lang="en-IN" dirty="0">
              <a:solidFill>
                <a:srgbClr val="ADCAE4"/>
              </a:solidFill>
              <a:latin typeface="Comic Sans MS" panose="030F0702030302020204" pitchFamily="66" charset="0"/>
            </a:endParaRPr>
          </a:p>
        </p:txBody>
      </p:sp>
      <p:cxnSp>
        <p:nvCxnSpPr>
          <p:cNvPr id="15" name="Straight Arrow Connector 14"/>
          <p:cNvCxnSpPr/>
          <p:nvPr/>
        </p:nvCxnSpPr>
        <p:spPr>
          <a:xfrm flipV="1">
            <a:off x="1706037" y="3268660"/>
            <a:ext cx="641237" cy="736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17" name="Picture 16" descr="20% 80% Red And Brown Pie Chart Infographics Фотография, картинки,  изображения и сток-фотография без роялти. Image 58085827"/>
          <p:cNvPicPr/>
          <p:nvPr/>
        </p:nvPicPr>
        <p:blipFill>
          <a:blip r:embed="rId10" cstate="print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1778" b="96667" l="0" r="100000">
                        <a14:backgroundMark x1="9091" y1="11333" x2="9091" y2="11333"/>
                        <a14:backgroundMark x1="88636" y1="11778" x2="88636" y2="11778"/>
                        <a14:backgroundMark x1="51136" y1="51111" x2="51136" y2="51111"/>
                        <a14:backgroundMark x1="95455" y1="90889" x2="95455" y2="90889"/>
                        <a14:backgroundMark x1="9773" y1="88222" x2="9773" y2="88222"/>
                      </a14:backgroundRemoval>
                    </a14:imgEffect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3184" y="1742306"/>
            <a:ext cx="1574800" cy="1612265"/>
          </a:xfrm>
          <a:prstGeom prst="rect">
            <a:avLst/>
          </a:prstGeom>
          <a:noFill/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</p:pic>
      <p:cxnSp>
        <p:nvCxnSpPr>
          <p:cNvPr id="18" name="Elbow Connector 17"/>
          <p:cNvCxnSpPr/>
          <p:nvPr/>
        </p:nvCxnSpPr>
        <p:spPr>
          <a:xfrm flipV="1">
            <a:off x="2990493" y="2309567"/>
            <a:ext cx="1307702" cy="480767"/>
          </a:xfrm>
          <a:prstGeom prst="bentConnector3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4441905" y="3354571"/>
            <a:ext cx="1390716" cy="405353"/>
          </a:xfrm>
          <a:prstGeom prst="roundRect">
            <a:avLst/>
          </a:prstGeom>
          <a:noFill/>
          <a:ln>
            <a:solidFill>
              <a:srgbClr val="E985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AECAE4"/>
                </a:solidFill>
                <a:latin typeface="Comic Sans MS" panose="030F0702030302020204" pitchFamily="66" charset="0"/>
              </a:rPr>
              <a:t>Test Data</a:t>
            </a:r>
            <a:endParaRPr lang="en-IN" dirty="0">
              <a:solidFill>
                <a:srgbClr val="AECAE4"/>
              </a:solidFill>
              <a:latin typeface="Comic Sans MS" panose="030F0702030302020204" pitchFamily="66" charset="0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4594429" y="1256327"/>
            <a:ext cx="1809731" cy="405353"/>
          </a:xfrm>
          <a:prstGeom prst="roundRect">
            <a:avLst/>
          </a:prstGeom>
          <a:noFill/>
          <a:ln>
            <a:solidFill>
              <a:srgbClr val="E985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AECAE4"/>
                </a:solidFill>
                <a:latin typeface="Comic Sans MS" panose="030F0702030302020204" pitchFamily="66" charset="0"/>
              </a:rPr>
              <a:t>Training Data</a:t>
            </a:r>
            <a:endParaRPr lang="en-IN" dirty="0">
              <a:solidFill>
                <a:srgbClr val="AECAE4"/>
              </a:solidFill>
              <a:latin typeface="Comic Sans MS" panose="030F0702030302020204" pitchFamily="66" charset="0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8944453" y="2233496"/>
            <a:ext cx="828000" cy="756000"/>
          </a:xfrm>
          <a:prstGeom prst="ellipse">
            <a:avLst/>
          </a:prstGeom>
          <a:blipFill dpi="0" rotWithShape="1">
            <a:blip r:embed="rId12" cstate="print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13">
                      <a14:imgEffect>
                        <a14:colorTemperature colorTemp="5300"/>
                      </a14:imgEffect>
                      <a14:imgEffect>
                        <a14:saturation sat="400000"/>
                      </a14:imgEffect>
                      <a14:imgEffect>
                        <a14:brightnessContrast bright="-40000" contrast="-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15875" t="16100" r="13751" b="6356"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4" name="Oval 23"/>
          <p:cNvSpPr/>
          <p:nvPr/>
        </p:nvSpPr>
        <p:spPr>
          <a:xfrm>
            <a:off x="9136450" y="3759924"/>
            <a:ext cx="828000" cy="810704"/>
          </a:xfrm>
          <a:prstGeom prst="ellipse">
            <a:avLst/>
          </a:prstGeom>
          <a:blipFill dpi="0" rotWithShape="1">
            <a:blip r:embed="rId14" cstate="print">
              <a:duotone>
                <a:prstClr val="black"/>
                <a:schemeClr val="accent1">
                  <a:tint val="45000"/>
                  <a:satMod val="400000"/>
                </a:schemeClr>
              </a:duotone>
              <a:extLst>
                <a:ext uri="{BEBA8EAE-BF5A-486C-A8C5-ECC9F3942E4B}">
                  <a14:imgProps xmlns:a14="http://schemas.microsoft.com/office/drawing/2010/main">
                    <a14:imgLayer r:embed="rId15">
                      <a14:imgEffect>
                        <a14:brightnessContrast bright="-20000" contrast="-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30" name="Picture 29" descr="Page 26 | Examination Evaluation Vector Art, Icons, and Graphics for Free  Download"/>
          <p:cNvPicPr/>
          <p:nvPr/>
        </p:nvPicPr>
        <p:blipFill>
          <a:blip r:embed="rId1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colorTemperature colorTemp="6495"/>
                    </a14:imgEffect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83225" y="5062194"/>
            <a:ext cx="1508863" cy="1466241"/>
          </a:xfrm>
          <a:prstGeom prst="rect">
            <a:avLst/>
          </a:prstGeom>
          <a:noFill/>
          <a:ln>
            <a:noFill/>
          </a:ln>
        </p:spPr>
      </p:pic>
      <p:pic>
        <p:nvPicPr>
          <p:cNvPr id="31" name="Picture 30" descr="Key - Clipart - Key Clipart - Free Transparent PNG Clipart Images Download"/>
          <p:cNvPicPr/>
          <p:nvPr/>
        </p:nvPicPr>
        <p:blipFill>
          <a:blip r:embed="rId18" cstate="print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ackgroundRemoval t="416" b="100000" l="119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7537467" y="886290"/>
            <a:ext cx="783153" cy="687624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Rounded Rectangle 32"/>
          <p:cNvSpPr/>
          <p:nvPr/>
        </p:nvSpPr>
        <p:spPr>
          <a:xfrm>
            <a:off x="8348765" y="980188"/>
            <a:ext cx="1809731" cy="405353"/>
          </a:xfrm>
          <a:prstGeom prst="roundRect">
            <a:avLst/>
          </a:prstGeom>
          <a:noFill/>
          <a:ln>
            <a:solidFill>
              <a:srgbClr val="E985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AECAE4"/>
                </a:solidFill>
                <a:latin typeface="Comic Sans MS" panose="030F0702030302020204" pitchFamily="66" charset="0"/>
              </a:rPr>
              <a:t>Model Building </a:t>
            </a:r>
            <a:endParaRPr lang="en-IN" dirty="0">
              <a:solidFill>
                <a:srgbClr val="AECAE4"/>
              </a:solidFill>
              <a:latin typeface="Comic Sans MS" panose="030F0702030302020204" pitchFamily="66" charset="0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9937621" y="2347274"/>
            <a:ext cx="1809731" cy="405353"/>
          </a:xfrm>
          <a:prstGeom prst="roundRect">
            <a:avLst/>
          </a:prstGeom>
          <a:noFill/>
          <a:ln>
            <a:solidFill>
              <a:srgbClr val="E985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AECAE4"/>
                </a:solidFill>
                <a:latin typeface="Comic Sans MS" panose="030F0702030302020204" pitchFamily="66" charset="0"/>
              </a:rPr>
              <a:t>Train Model </a:t>
            </a:r>
            <a:endParaRPr lang="en-IN" dirty="0">
              <a:solidFill>
                <a:srgbClr val="AECAE4"/>
              </a:solidFill>
              <a:latin typeface="Comic Sans MS" panose="030F0702030302020204" pitchFamily="66" charset="0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8760644" y="5821052"/>
            <a:ext cx="2023619" cy="405353"/>
          </a:xfrm>
          <a:prstGeom prst="roundRect">
            <a:avLst/>
          </a:prstGeom>
          <a:noFill/>
          <a:ln>
            <a:solidFill>
              <a:srgbClr val="E985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6698C4"/>
                </a:solidFill>
                <a:latin typeface="Comic Sans MS" panose="030F0702030302020204" pitchFamily="66" charset="0"/>
              </a:rPr>
              <a:t>Evaluate Model</a:t>
            </a:r>
            <a:endParaRPr lang="en-IN" dirty="0">
              <a:solidFill>
                <a:srgbClr val="6698C4"/>
              </a:solidFill>
              <a:latin typeface="Comic Sans MS" panose="030F0702030302020204" pitchFamily="66" charset="0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10147128" y="3912324"/>
            <a:ext cx="1674083" cy="405353"/>
          </a:xfrm>
          <a:prstGeom prst="roundRect">
            <a:avLst/>
          </a:prstGeom>
          <a:noFill/>
          <a:ln>
            <a:solidFill>
              <a:srgbClr val="E985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6698C4"/>
                </a:solidFill>
                <a:latin typeface="Comic Sans MS" panose="030F0702030302020204" pitchFamily="66" charset="0"/>
              </a:rPr>
              <a:t>Score Model</a:t>
            </a:r>
            <a:endParaRPr lang="en-IN" dirty="0">
              <a:solidFill>
                <a:srgbClr val="6698C4"/>
              </a:solidFill>
              <a:latin typeface="Comic Sans MS" panose="030F0702030302020204" pitchFamily="66" charset="0"/>
            </a:endParaRPr>
          </a:p>
        </p:txBody>
      </p:sp>
      <p:cxnSp>
        <p:nvCxnSpPr>
          <p:cNvPr id="8" name="Elbow Connector 7"/>
          <p:cNvCxnSpPr/>
          <p:nvPr/>
        </p:nvCxnSpPr>
        <p:spPr>
          <a:xfrm>
            <a:off x="5646656" y="2044691"/>
            <a:ext cx="3177683" cy="559077"/>
          </a:xfrm>
          <a:prstGeom prst="bentConnector3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" name="Elbow Connector 15"/>
          <p:cNvCxnSpPr/>
          <p:nvPr/>
        </p:nvCxnSpPr>
        <p:spPr>
          <a:xfrm>
            <a:off x="5458120" y="3124040"/>
            <a:ext cx="3508860" cy="1156156"/>
          </a:xfrm>
          <a:prstGeom prst="bentConnector3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>
            <a:off x="7937656" y="1509374"/>
            <a:ext cx="0" cy="87985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 flipH="1">
            <a:off x="9358453" y="3032469"/>
            <a:ext cx="1858" cy="59154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9" name="Down Arrow 38"/>
          <p:cNvSpPr/>
          <p:nvPr/>
        </p:nvSpPr>
        <p:spPr>
          <a:xfrm>
            <a:off x="9343450" y="4791321"/>
            <a:ext cx="414000" cy="672132"/>
          </a:xfrm>
          <a:prstGeom prst="down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0" name="Title 6"/>
          <p:cNvSpPr txBox="1">
            <a:spLocks noGrp="1"/>
          </p:cNvSpPr>
          <p:nvPr>
            <p:ph type="title"/>
          </p:nvPr>
        </p:nvSpPr>
        <p:spPr>
          <a:xfrm>
            <a:off x="838200" y="103097"/>
            <a:ext cx="10515600" cy="783193"/>
          </a:xfrm>
          <a:prstGeom prst="roundRect">
            <a:avLst/>
          </a:prstGeom>
          <a:noFill/>
          <a:ln>
            <a:solidFill>
              <a:srgbClr val="E98521"/>
            </a:solidFill>
          </a:ln>
        </p:spPr>
        <p:txBody>
          <a:bodyPr wrap="square" rtlCol="0" anchor="t">
            <a:spAutoFit/>
          </a:bodyPr>
          <a:lstStyle/>
          <a:p>
            <a:pPr lvl="0" algn="ctr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en-US" sz="4000" b="1" spc="300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</a:rPr>
              <a:t>Process Workflow:-</a:t>
            </a:r>
            <a:endParaRPr lang="en-IN" sz="2800" b="1" spc="30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59830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  <a14:imgEffect>
                      <a14:sharpenSoften amount="-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75415"/>
            <a:ext cx="12243479" cy="7560000"/>
          </a:xfrm>
          <a:prstGeom prst="rect">
            <a:avLst/>
          </a:prstGeom>
        </p:spPr>
      </p:pic>
      <p:sp>
        <p:nvSpPr>
          <p:cNvPr id="4" name="Title 6"/>
          <p:cNvSpPr txBox="1">
            <a:spLocks noGrp="1"/>
          </p:cNvSpPr>
          <p:nvPr>
            <p:ph type="title"/>
          </p:nvPr>
        </p:nvSpPr>
        <p:spPr>
          <a:xfrm>
            <a:off x="838200" y="85878"/>
            <a:ext cx="10515600" cy="783193"/>
          </a:xfrm>
          <a:prstGeom prst="roundRect">
            <a:avLst/>
          </a:prstGeom>
          <a:noFill/>
          <a:ln>
            <a:solidFill>
              <a:srgbClr val="E98521"/>
            </a:solidFill>
          </a:ln>
        </p:spPr>
        <p:txBody>
          <a:bodyPr wrap="square" rtlCol="0" anchor="ctr">
            <a:spAutoFit/>
          </a:bodyPr>
          <a:lstStyle/>
          <a:p>
            <a:pPr lvl="0" algn="ctr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en-US" sz="4000" b="1" spc="300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</a:rPr>
              <a:t>EDA &amp; feature engineering:-</a:t>
            </a:r>
            <a:endParaRPr lang="en-IN" sz="2800" b="1" spc="30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mic Sans MS" panose="030F0702030302020204" pitchFamily="66" charset="0"/>
            </a:endParaRPr>
          </a:p>
        </p:txBody>
      </p:sp>
      <p:pic>
        <p:nvPicPr>
          <p:cNvPr id="5" name="Picture 4" descr="C:\Users\DELL\AppData\Local\Microsoft\Windows\INetCache\Content.MSO\9967FBE0.tmp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901" y="966099"/>
            <a:ext cx="1699641" cy="1567781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 descr="C:\Users\DELL\AppData\Local\Microsoft\Windows\INetCache\Content.MSO\DD432CEE.tmp"/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7655" y="966162"/>
            <a:ext cx="1720491" cy="155663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 descr="C:\Users\DELL\AppData\Local\Microsoft\Windows\INetCache\Content.MSO\6BA7972C.tmp"/>
          <p:cNvPicPr/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2260" y="977250"/>
            <a:ext cx="1712949" cy="1567781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 descr="C:\Users\DELL\AppData\Local\Microsoft\Windows\INetCache\Content.MSO\51B0021A.tmp"/>
          <p:cNvPicPr/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5217" y="4709274"/>
            <a:ext cx="1742929" cy="155663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 descr="C:\Users\DELL\AppData\Local\Microsoft\Windows\INetCache\Content.MSO\F9BC2138.tmp"/>
          <p:cNvPicPr/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2260" y="4709274"/>
            <a:ext cx="1712949" cy="15677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Picture 11" descr="C:\Users\DELL\AppData\Local\Microsoft\Windows\INetCache\Content.MSO\A79B2604.tmp"/>
          <p:cNvPicPr/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2260" y="2843262"/>
            <a:ext cx="1712949" cy="15677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Picture 12" descr="C:\Users\DELL\AppData\Local\Microsoft\Windows\INetCache\Content.MSO\140EEEB2.tmp"/>
          <p:cNvPicPr/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901" y="2843262"/>
            <a:ext cx="1699641" cy="15634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Picture 13" descr="C:\Users\DELL\AppData\Local\Microsoft\Windows\INetCache\Content.MSO\D0ACF190.tmp"/>
          <p:cNvPicPr/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7655" y="2843262"/>
            <a:ext cx="1720491" cy="156348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AutoShape 2" descr="data:image/png;base64,iVBORw0KGgoAAAANSUhEUgAAAigAAAGdCAYAAAA44ojeAAAAOnRFWHRTb2Z0d2FyZQBNYXRwbG90bGliIHZlcnNpb24zLjEwLjAsIGh0dHBzOi8vbWF0cGxvdGxpYi5vcmcvlHJYcgAAAAlwSFlzAAAPYQAAD2EBqD+naQAAhaJJREFUeJztnXl4FFXW/7/dSaezkHQSlnQHESIGJYQtKLuiSBQBZcRZZHHchkGRGUFnFFQGGJTF9/25vC8MvqLjhsAsiqAgGsRBgSAMyBLCKEtAxDQREpKQnXT9/uhU00tV9629Ojmf58nzQKdSdftW1b3fe86551g4juNAEARBEARhIqxGN4AgCIIgCCIYEigEQRAEQZgOEigEQRAEQZgOEigEQRAEQZgOEigEQRAEQZgOEigEQRAEQZgOEigEQRAEQZgOEigEQRAEQZiOWKMbIAePx4Mff/wRycnJsFgsRjeHIAiCIAgGOI5DdXU1MjMzYbWGt5FEpUD58ccf0aVLF6ObQRAEQRCEDE6fPo0rrrgi7DFRKVCSk5MBeL9gSkqKwa0hCIIgCIKFqqoqdOnSxTePhyMqBQrv1klJSSGBQhAEQRBRBkt4BgXJEgRBEARhOkigEARBEARhOkigEARBEARhOkigEARBEARhOkigEARBEARhOkigEARBEARhOkigEARBEARhOkigEARBEARhOqIyURtBEG2XZg+H3SXlKKuuR6fkeAzMSkeMlWpyEURrgwQKQRBRw+aiUiz4qBillfW+z1yOeMy7Iwejc10GtowgCLUhFw9BEFHB5qJSPLJqX4A4AQB3ZT0eWbUPm4tKDWoZQRBaQAKFIAjT0+zhsOCjYnACv+M/W/BRMZo9QkcQBBGNkEAhCML07C4pD7Gc+MMBKK2sx+6Scv0aRRCEppBAIQjC9JRVi4sTOccRBGF+SKAQBGF6OiXHq3ocQRDmhwQKQRCmZ2BWOlyOeIhtJrbAu5tnYFa6ns0iCEJDSKAQBGF6YqwWzLsjBwBCRAr//3l35FA+FIJoRZBAIQgiKhid68KKKXlwOgLdOE5HPFZMyaM8KATRyqBEbQRBRA2jc13Iz3FSJlmCaAOQQCEIIqqIsVowpHt7o5tBEITGkIuHIAiCIAjTQQKFIAiCIAjTQQKFIAiCIAjTQQKFIAiCIAjTQQKFIAiCIAjTIVmgfPnll7jjjjuQmZkJi8WCDz/8MOD3HMdh/vz5yMzMREJCAm666SYcPnw44JiGhgb87ne/Q4cOHZCUlIQ777wTP/zwg6IvQhAEQRBE60GyQKmpqUHfvn2xbNkywd+/8MILePHFF7Fs2TLs2bMHTqcT+fn5qK6u9h0zc+ZMrFu3DmvXrsX27dtx8eJFjBs3Ds3NzfK/CUEQBEEQrQYLx3Gc7D+2WLBu3Tr87Gc/A+C1nmRmZmLmzJl46qmnAHitJRkZGVi6dCmmTZuGyspKdOzYEe+++y5+9atfAQB+/PFHdOnSBZs2bcJtt90W8bpVVVVwOByorKxESkqK3OYTBEEQBKEjUuZvVWNQSkpK4Ha7ceutt/o+s9vtGDFiBHbu3AkA2Lt3L5qamgKOyczMRG5uru8YgiAIgiDaNqpmknW73QCAjIyMgM8zMjJw6tQp3zFxcXFIS0sLOYb/+2AaGhrQ0NDg+39VVZWazSYIgiAIwmRosovHYgmsi8FxXMhnwYQ7ZvHixXA4HL6fLl26qNZWgiAIgiDMh6oCxel0AkCIJaSsrMxnVXE6nWhsbERFRYXoMcHMmTMHlZWVvp/Tp0+r2WyCIAiCIEyGqgIlKysLTqcTBQUFvs8aGxuxbds2DB06FAAwYMAA2Gy2gGNKS0tRVFTkOyYYu92OlJSUgB+CIAiCIFovkmNQLl68iGPHjvn+X1JSgv379yM9PR1XXnklZs6ciUWLFiE7OxvZ2dlYtGgREhMTMWnSJACAw+HAQw89hCeeeALt27dHeno6/vCHP6B3794YNWqUet+MIAiCIIioRbJA+fe//42bb77Z9//HH38cAHDffffhrbfewpNPPom6ujpMnz4dFRUVGDRoED777DMkJyf7/uall15CbGwsfvnLX6Kurg633HIL3nrrLcTExKjwlQiCIAiCiHYU5UExCsqDQhCEljR7OOwuKUdZdT06JcdjYFY6YqzhA/0JgoiMlPlb1W3GBEEQ0c7molIs+KgYpZX1vs9cjnjMuyMHo3NdBraMINoWVCyQIAiihc1FpXhk1b4AcQIA7sp6PLJqHzYXlRrUMoJoe5BAIQiCgNets+CjYgj5vPnPFnxUjGZP1HnFCSIqIYFCEAQBYHdJeYjlxB8OQGllPXaXlOvXKIJow5BAIQiCAFBWLS5O5BxHEIQySKAQBEEA6JQcr+pxBEEogwQKQRAEgIFZ6XA54iG2mdgC726egVnpejaLINosJFAIgogKmj0cCo+fx/r9Z1B4/LzqwaoxVgvm3ZEDACEihf//vDtyKB8KQegE5UEhCML06JWbZHSuCyum5IVcy0l5UAhCdyiTLEEQpobPTRI8UPF2jBVT8lQXDpRJliC0gTLJEgTRKoiUm8QCb26S/BynqgIixmrBkO7tVTsfQRDSoRgUgiBMC+UmIYi2CwkUgiBMC+UmIYi2CwkUgiBMC+UmIYi2CwkUgiBMC+UmIYi2CwkUgiBMC+UmIYi2CwkUQhW0TqJFtF343CROR6Abx+mI12SLMUEQ5oC2GROK0SuJFtF2GZ3rQn6Ok3KTEEQbghK1EYowIokWQRAEEZ1Imb/JxUPIJlISLcCbRIvcPQRBEIRUSKAQsqEkWgRBEIRWkEAhZENJtAiCIAitIIFCyIaSaBEEQRBaQQKFkA0l0SIIgiC0ggQKIRtKokUQBEFoBQkUQhGURIsgCILQAkrURiiGkmgRBEEQakMChVCFGKsFQ7q3N7oZBEEQRCuBXDwEQRAEQZgOsqAQBEEQrYJmD0eu5lYECRSCIAgi6qGipa0PcvEQBEEQUQ1ftDS49Ia7sh6PrNqHzUWlBrWMUAJZUAjCAMgUTbQWjH6WIxUttcBbtDQ/x0nvWJRBAoUgdIZM0URrwQzPspSipbTTMLogFw9B6AiZoonWglmeZSpa2nohgUIQOhHJFA14TdHNHqEjCCk0ezgUHj+P9fvPoPD4eepTlTHTs0xFS1sv5OIhCJ0gU7Q+mMHt0Nox07PMFy11V9YLCiYLvKU3qGhp9EEWFILQCTJFa49Z3A6tHTM9y1S0tPVCAoUgdIJM0dpiJrdDa8dsz3JbKVra1lyXmrh4qqurMXfuXKxbtw5lZWXo378/XnnlFVx//fUAAI7jsGDBArz22muoqKjAoEGDsHz5cvTq1UuL5hCEKSBTtLaYye3Q2jHjs9zai5Zq7bo0eru4EJpYUH7zm9+goKAA7777Lg4dOoRbb70Vo0aNwpkzZwAAL7zwAl588UUsW7YMe/bsgdPpRH5+Pqqrq7VoDkGYAjJFa0ezh8OOY+eYjiUXmnLM+izzRUvH9+uMId3bt5p3SWvX5eaiUgxfuhUTV+7CY2v3Y+LKXRi+dKvhLlELx3Gq2ojq6uqQnJyM9evXY+zYsb7P+/Xrh3HjxmHhwoXIzMzEzJkz8dRTTwEAGhoakJGRgaVLl2LatGkRr1FVVQWHw4HKykqkpKSo2XyC0BwK4lQXof4Mx5qpg8mCohL0LGtPs4fD8KVbRZ9v3lq1/amRsgQZL36ChQB/JrVdZFLmb9VdPJcuXUJzczPi4wN9gQkJCdi+fTtKSkrgdrtx6623+n5nt9sxYsQI7Ny5U1CgNDQ0oKGhwff/qqoqtZtNELrR2k3ReiI2uApBLjT1oWdZe7R0XZo9C6/qAiU5ORlDhgzBwoUL0bNnT2RkZGDNmjX4+uuvkZ2dDbfbDQDIyMgI+LuMjAycOnVK8JyLFy/GggUL1G4qIQEz+iejGd4UTcgn3OAaDLnQtIOeZW3RcseU2eO2NAmSfffdd/Hggw+ic+fOiImJQV5eHiZNmoR9+/b5jrFYAgcJjuNCPuOZM2cOHn/8cd//q6qq0KVLFy2aTghAZlzCjEQaXP1x0vNKRCla7pgy03ZxITQJku3evTu2bduGixcv4vTp09i9ezeampqQlZUFp9MJAD5LCk9ZWVmIVYXHbrcjJSUl4IfQB8orQZgV1kFzxs3dsf2pkSROiKiE3zElZvezwLtglOO6NNt28WA0zYOSlJQEl8uFiooKfPrppxg/frxPpBQUFPiOa2xsxLZt2zB06FAtm0NIhPJKEGaGddAcdnVHcusQUYuWO6a0FD9qoIlA+fTTT7F582aUlJSgoKAAN998M6655ho88MADsFgsmDlzJhYtWoR169ahqKgI999/PxITEzFp0iQtmhPVGJmYR4p/kiD0xuyDK0GohVaJ6My6XZxHkxiUyspKzJkzBz/88APS09Nx99134/nnn4fNZgMAPPnkk6irq8P06dN9ido+++wzJCcna9GcqMXo2A+z+yeDoUDetgU/uD6yah8sQIClzwyDK0GoiVY7pnjxEzzXmCFuS/U8KHrQFvKg6L03XYjC4+cxceWuiMeZIa+E0WKOMA4j7z2J4suo2RfUr/qjV59Lmb9JoJgQrRPzSG1HpHTWWraD5aUxg5gjjMWICY1E8WXU7Avq19YNCZQox0yWC37yB4RN6FpO/iwDlVnEHNG2IFF8GZa+yM9xYtfx8yg8cQ6AN2/K4KtCU9FTv0Ym2q1LhmaSJZRjptgPo/yTYgMVv72ZH6j0TDQU7QMDoQ5mz76pJyx9MfuDQ5j9/iFcqGvy/W7ZF8eQmmjDkgm9AxYb1K/haWvWJRIoJsQMe9ODJ+Ntf7wZe09V6DI5Sxmo9BJzbW1gIMSRIooHZqUzidpoFb8sfXGhtknwdxdqm/Dwqn14tcXC8taOElNnNTUa1kVba4IEigkxupR5uMl4fL/OmlzTHykTgB5iri0ODIQ4rGK3oNiNx/++P6KojWbxq4YVd/YHhzB/QzHcVeaxHJuNtmpd0jRRGyEPI/emmyFzrBSriNa5MChZHREMq9j9646TEd8jM7xvSlDDinuhtolZnKh1zWijreakIoFiUrRKzBMOs0zGUqwirGIOgKyEd211YCDEiSSKAUBs7eD/HjVe8oR93zgA8zccNrX4ZekLtWjLiffMFJeoJ+TiMTF6lzJXO+BUrl9dqosrUiAvgJCdPqwm9LY6MBDiREoQxwEIpyn49+jdwlALSzDuqgYs23oMj43KVt5wDQjXF2rS1hPvmSEu0QhIoJgcPUuZqzkZK/Gry8kQKibmCordiuJH2urAQIRHTBQ7Em2iQaHBnCqvZTrupS3f4RpnO9PGo4guEFLsqGtqRmXdJcXXMENWUyOJtGgDgNREW6uzLpFAaSOwWDPUmozVCCqVs705WMypEVhmdMAyYV6CRXGHJDue+McBAGwCpWt6IvO15ARA6rkzKNwC4eGWPEpymTu2J+4flqW47WbcKcXaJn7RFq4vL9Q2oaDY3apEHAmUNgCrNUONyVjNaHOlLi65LqvgQWPu2Bw8uprqvRCh+IviwuPnmYM9XY543DukG17fHn5rLY/U7bVG7AwSsvaOznXh1Sl5mP3BoRDLUmpCLGCxoLK2Kex4o4Y4MeNOKaltys9xIjWMha417uQhgdLKkWLNUKP4mtpxLEpcXHJcVmKDxm9vzMKGA6WmKqZlxhVhW0ZKHNK8O3IQF2uNuCqWc36zbYvnFxpCmWR5F6yW4t9s/SG3TbtLysO6D6WMrdEydpBAacXIsWYozRyrR1Ap68sl1WUVbtB47csSLJ/UH2lJdlO81GZcEbZ1WJ+3WaN6+O7R6FwXZo3KxktbjqpyfrPmy4ixWjAsuwOGZXcI+FzrTNVm7A+5bVJrbA03dui5KYMFEiitGLnWDCWuFa2DSqVMzFJcViyDxsKNR0xR08eMK0KCLZDRmWLHjJFXB3w2Y2Q21uw+LeoekhLnpGfpB7XQcreiVv3BskgSO0Zum9QYW8ONHQ+v2hfiQjJ60UMCxaSoYYJTorjlula0DCqVOjFLcVkVHj8fFQO7GVeEhBeWLbdje7t8KfD5+xNjtWD+nTlhi3KyujqidVu8VrsVtxS7mY6T0h8si6RwxzRc8shqk9KxlSXPVbALyehFDyVqMyGbi0oxfOlWTFy5C4+t3Y+JK3dh+NKtkrNKGrFFVqssuHKTyLEmvIuWgZ0Sx5kbseeNf9zf2HFS8H1WKzEjbYu/TLOHw7r9Z5iOZe0Plsy/kY45ea5GVpuUjq2Rxg4hjM6WTRYUmWgVZKSm+X5A1zSkJ8WhvKZR8PdabZHVwq+sxFTLYkKOloE9WoRUW8b/eSsoduOvO06GJG4Tep/VcHUw5ctIsMHDcWj2cK3ayra7pBzlNZG3fLdPimMaA1msl/M3HAZgCXvM6q9PyR6XlYytcscEI63HJFBkoFWAoprme76N4V4CQLstsmr7lZVOzJFMyNGS7yRahJQaRMtOAyFirBYMzErH43/fL/h7sfdZqauDxc10oa4Jk1//2vD4Aq1hHTPG98tkeq5YFknuqoaw5+AAnK0WHpMBtnFZ7tiqdEwwYtFDAkUiWgYoqhXQJdZGf+RYM6ROGGr6lbWemNXYYq0H0SKklNIadikZFbAqtsoOxuj4Aq1hHQvyc5xMx+kxQbOOy3LGVhbrWjiMWPRQDIoEtC6mp4b5PlwbedKTbNj2x5uZBqVmD4fC4+fx548O4/rntyiOi5GL1lWLAWMKNErFyErXSuCfI5ZijdFe4ZfHSHfc6FwXtj81Eu89NAipCTbBY4yOL9AalkKGUsYMrSdoKeOyHMKNHeEwskgjWVAkoPWKSA0rAUsgVHlNE/aeqojYRqFVrD9qrMCkpnrW2sKhd4FGOWidO0JtpFhDWP38yfE2nLvYYMr7w2O0Oy7GaoHVasGFOnWSe0Ubao8ZLNbLjBQ7AAvOVkm3UrCOy0oQGzv47cVmsx6TQJGA3BUR6ySshvlezWQ+kdxESre1sk5cfP81XPJg5qgeWLP7+4CcEWpPzHoWaJRLNAgpQLpLlNXPP/n1r32faeX6URoDYwZ3nJpWnMZLHrxbeBKnymvRNT0R9w7phrhYcxvh1RTzLIJn/p29AEB2dWc93Ejh6iaZbdFDAkUCclZEUlaPaih+NVZtLG4iHrkrMNaJS6j/nCl2zBqVjW4dkkw7MSuFZXI0u5CSE/QtZ4DWIpZCjRgYM8Q1qWXFWbypGCu/KgnYjfT8piOYekMW5ozJUdJEzVFTzLMKHpYYICH0ivMQq5tktkUPCRQBxCYHliCj9CQb3FX1KDx+HhU1jXh0degkXNqSte8vk/pjTJ/MgN8pVfxqrNrk7JeXMrGwTlweDwT772xVA17echQrpuSZeoKWS2sIEAXkuUTlDNBqJ6hTMxDeaHecGuPB4k3F+L8vS0I+93DwfW52kSJXzAvNBSwTuVilazHXj1mC28226CGB4kezh8Oyrcfw5o6SAL+t/+QQaQtfeU0TZv1tPwBvcqZwVogZa77BMlgwpk/gIKVEyaqxapOzipUysbBOXM+uL2pzGVOjLY19OEuPHPeC3J0GasVSaJGp18iVqdLxoPGSByu/ChUn/qz8qgRP3Hqt6d09Uom0UIj0nAVP9ny2YLPFeZiZ1vVEKWBzUSkGPFeAl7Z8FxJU5r97QGynhxCRAuM9HDB9tfCuBP7hHt+vM4Z0by/pwZW6GyV4h0WHdnbma8mJ8GaduMRyuACRM6ZK2TViFrTeJaY2kTIey3EvyN1pwKPUh69Vpl4l77NSlOxOe7cwNMlcMB7Oe1xrQoudZFrvEozGMS8SZEGB92EMV/I8eOXkvyJyV9Zh4cYjYSfTSGhhCWBdtYnFeKQm2lBZ2xR2FStX+avpZxWakKKpWqc/0VTojcXSk5/jlOVeYM3jIYReyaiiLVOvXCvOqfJapvOLHReNyfa0rHellTWNxS0cjfeizQsU/mGMRPDkwK+ICo+fVyROAO0mnUj+RLFJ5mxVg++zcJHocv3ovBlf6uQjRPCEJKda59yxPZGWZFftxZU7EBg5OUpps5QBXK57wSgfvtFbg7VETnxB1/RE2cfJiaUywySq9UJBzXiYGKuFabEAICrj2tq8QJEaEBo8Oag1Wei9ImOZZByJNsTHxgRs6U1PsuGufp0xKscpe/DgzfjhrFaREJqQ5FTrLK2sx/TV3wR85kyJx/w75b24SgJcjZocpbZZygCuJEjUCB++GkGlZphk1eLeId3w/KYjYd08Vov3OH/kxFKZJTjcjFY0sb6ZO7YnFm48EnYcn/3BIUFruFnj2vxp8wJF6kMWPDmoNVnovSJjmWQu1DbhvYfyYLVaVB9sR+e68NCwbnhjx0nJfys2IcnZfSSEu8prbXlV4ourNMDViLwZctosdQBXYtYOnuyXT8rDwo3CYic/x4nC4+cVPatKg0rNMsmqRVysFVNvyBLcxcMz9YasgABZOS4SMwWHs47FJ89Fdn+pIVY3HSzF9NWhizm3wOIqGH4cF/ud2TcbtHmBIkUYCAWDDsxKD3EbSMGo7WWsk8y5mgaM79dZ0rlZX8pROU4mgRJc+VNs9a32iuaJvx9gfnHV8FvrnTdDbpvlBr9KNWuHWzUGu+QKit0YvnSrKsJArtXHTJOsVMK9s/wW4uA8KFYLBPOgSHWRaBnzIQfWnWQvb/kO1zjbhX0elMbCbTr4I2asERYhaoTAmimuTYg2L1BYH0YLhCeHgmJ3RHEy9YYswa16Wm4v4wccd2Udymsakd7ODmfK5RdBK3eClBUkq8Vg2x9vxt5TFRFfZrWtUDWNzfjfz49iZn6PiMeq5bfWM2+G3DbrYekJN9k/uvobrJiS5xPOUoUBi4CWavUx2yQrBaF3NjXBhgeGdcOMkdmIsVowZ0wOnrj1WqZMslItbKzP4Vs7SnD/sCzN+0+KC1rsnsqJhQt+vzcXlUa0kKiFWYO+27xAYSlPnpZow+IJvUXrhoQjNdGG2bf3xICuabolawpXQ8dfwbMEqlZICACWOlGwWgziYq1M6l5ptU4hXt9egt/dkh1xUFTTb61X3gy5bdba0iNlskfLv1mFgdTMzsHPnZi40XsHFquVMtJxYu/shbomvLTlKN7ceRJLWsa+uFgrHrrhqohtk7r4YX0OF248gte3l+jiLhud68KsUdl4actR0WPE7qmcWLjgMZJ184ZamDXou80LFCBMAaWgVUQwLDEPF2qbfMGCekw6kWrolPq9CHPH9oyo0BduLMZtuZFXfXJXkHrVypDLxYZLTJOK2hYpPTI6KmmzlpYeqblIWI+trGtU5IIJJ24aLnlYvpoqK1VWkRXpOJaSFhdqm/Dwqn14aFg35sB4qRY2KZOjnu6ybh2SmI4LvqdyYuGCx0g55xBaLHBA2JQRZslgKwYJlBbkCAjWwWbHsZ90ieiXUkNnwUfF+O9f9I14HOuqT8kKUo9aGWLVOllguc9mKAwnFaVt1kJ0N3s47Dh2julYKZO9u7IOL3z6rWwXTCTr4MxR2UztULpSlVLDKtJxjoQ45knwjR0n8caOk0xxPVItbFIsn3q6y1jv1dGzF1F4/Lzv2ZcrQv3HSCnnSE+yYXy/zli//0fBWD1AuHhhNGSwJYHih9RVK+sDvOyL475/axnRz6q6+Reh8Ph5pvOyvCxKXRxqWgykVOtkgeU+m6EwnFTUaLOa9y2ca1IIKZN9eU2jbAHNYh38644SWC3i2aPVEKisVsqR12YwHffk6Gslt4HVgiHFwibV8qllYKe/S6xDkjduTyz3Ds+yL45h2RfHfGO7GskCpT3bTXizZbOBWBoII+tBKYEEigLkxDxoaaKUrtzZWs3yspgtwRVLtc4TP9Xglc/FfcyAtDT+o3NdWD4pD8+uL2LadWQGjC5mxxPJNelP8GTPYgVKZyzfIPQOsVgHK+suRTy3UoHKaqV8t/Ak03HlFxskt0GKBUOKhU1O9mC1AzsFg4UTbb7vHOnZ5Mf25ZP6K4qF4/tJzjkqaprw1x0ncX2E4oXRkp+HBIoC5MQ8sLzgkQLbxH4vdfIfclUHvL/vjCQTv9xKz5FWkHoltwoWLvVNl8LmeLizr4u5HZuLSrFwY3GAOElPsmHu2J6mFCc84QYvPe6LFNekkGWHxQrkSIhjaovQO6R0IrRagGUTpS1IhPqdtR2s6enTk+JkZXSWYsGQYmHjn8O3dpRg4cYjEY9Xc7EjJpArW4JZHQypJPi/fXZ9Ecb36+yzarDiP0bKjacLN7+YrVIxC6oLlEuXLmH+/Pl477334Ha74XK5cP/99+PZZ5+F1erdksZxHBYsWIDXXnsNFRUVGDRoEJYvX45evXqp3RzNkaP8w73gkQLbIu2tZxlw+BdhcPf2YV8CDsCYXO/EJeYiYan0HMldYGRyqzljcuDhIFqx9bUvS9D/yrSI7RAb4CpqmrzbYq0WU4sUocFLr/siJSDQ0RK4zu/gASJbgfJznNh1/DxSE2whhUB5wglopROhhwPSktgEEiDe7/dc34Xp71nT0zsdCYoyOrMIJqkCN8ZqgcsRH9ZdBgBJ9hhcavag2cMpFswsrrP4WCve+80gFB4/F+CyF8Lf5SI15s1/jBR7rtOTbCivERdLZs9tIgULx3Fq7cgEADz//PN46aWX8Pbbb6NXr17497//jQceeADPPfccHnvsMQDA0qVL8fzzz+Ott95Cjx498Nxzz+HLL7/Et99+i+Tk5IjXqKqqgsPhQGVlJVJSUtRsvmz8X8SjZy9i2RfHIv7NK/f0C0iCJjbJ8a/fb2/Mwmtfloj+nq+5EMlUbmk5lp9khAbE4AFCLBmd/7UjCSihSS3Sd9Y6Wr/Zw4Uk+Apuh9MRj+1PjQybAyPcOQBvAcYds28xvUmVR8/7sn7/GTy2dr+kvxF6poQmQ5a4I7HvxJ/v08OleLvwFJSMlMHvuhjh+p11R8a2P96MEf/1RURrJv9Mby4qxeN/P4DaxmZJ32nN1MEYmJUuKkDkCFwprj7A2x9LBFJASKHw+HlMXLkr4nFrpg5GWXW95GeVhfZJcXj+rlzB7xH8XLur6jHrb5HbwPrM6Y2U+Vt1C0phYSHGjx+PsWPHAgC6deuGNWvW4N///jcAr/Xk5ZdfxjPPPIMJEyYAAN5++21kZGRg9erVmDZtmtpN0gX/FWjh8fNMAsV/Zcayd37lV6HihP89b9bb/tTIsBYdoQHC38RfUOzGX3eEllhnTZcsxddphuRWrH79XcfPY1h2B1nnAAB3VQOWbT2Gxxh3e8hBLXdM4yUPnl5XJOm+KLm2HAuFUCxXsBWIdbITireRGrAbCZbvyPI+8ETKGyTVmlknQZzwAqeiplE0ey8gvFAKF4MnxdXHw2+DllqWInhByYLU4FVW0pNsKJxzi2DSOyD0uWbd3GDW3CZSUF2gDB8+HK+++iq+++479OjRAwcOHMD27dvx8ssvAwBKSkrgdrtx6623+v7GbrdjxIgR2Llzp6BAaWhoQEPD5YCuqqoqtZsdgtCAC4BpEJYTj8EyyYUzefqb9fxFglgm2WD4OJLH/74/bBsiXdu/0nMk5GxNVjsmgtWv/+jqfVhyt/BKjfUcL0VIja0EKWnhw/XX5qJSPL3ukCQTslJXkJxyEZEELMtkl5pgw/LJeRh8VXum5GVCWOCNT1AjzwRrfaxZo3pgze5TcFddHhMzUuyYf2cvX3+zBj9LFQV8L93Z14VHV4fPlCp14aGklpaUhYxc8akkeFUIvqWL7uotKk6EiMaUBnJRXaA89dRTqKysxLXXXouYmBg0Nzfj+eefx8SJEwEAbrcbAJCRkRHwdxkZGTh16pTgORcvXowFCxao3VRRRKO5OS4gWj8jOQ6TBnVFtw5JAYN/jNWCO/u6wgZfBq9g1K6KLCcgSmmxPanfQerWZLVjIpo9HM5Vs+1kuFDXJLryk7JS0cIiJDahSq3ULNW8XlZdr0r9GZZyEUKE87UzJVGsa4LVYgkJQJcyYXMAHhiahZe3fKd4eznr+1BZ14hAewoE/s+2c0PqO+9kqKALiFtc+WOE7puSMZA15kLqMw6oE7wKICQGSu5OOf82CLUVMF9KA7moLlD+9re/YdWqVVi9ejV69eqF/fv3Y+bMmcjMzMR9993nO85iCew8juNCPuOZM2cOHn/8cd//q6qq0KULW8CYVERTPwu8cGerGwNSIfubN18LI05+e2OWokkuHErOo1QksZqx+QGTVRx0So5XvRCb3FWUkMDgVzQs51LbIiR1QuUrNc8alR2QIVmOeT09IQ5PfnBQkYuu2cNh9geHJFw1FKHnVm5eHjkivVuHRFlbtYPvfQfGrdB/FdgdInZfI8HaT78e0hW357p8MSdquL6Cr61G/hAh/OuSzV1/WLI4AdiCVyOxfJK6leGFdhalipRliVZUFyh//OMfMXv2bNxzzz0AgN69e+PUqVNYvHgx7rvvPjid3uh7focPT1lZWYhVhcdut8NuZ3t5lSBnkPYnknmTZ8OBUjw5uqfgJBfOdGi1ABwnrNrVMOvJHSBYry0kCiKtQlITbRjQNQ0j/usL1WJV5Kyi+GsJrdSkFBcDwluExBItiSF3snhpy1Gs/vp7TBp0Jbp1SMK56gbJ5/nP2WrFRd52nTgvuxI4j9BzKzcvjxyR3ik5HkO6t5eUZ2LTwdLQfDkp9rBBsEBo8HowL205ijW7T2P+nd6FUiSLI2s/3Z7r8j3zall7+Wv7C4j0pDhU1DTKzh8SjNJYIjGRGexGX7jxiGi7/XdNqmHVCDd+VSh8l8yG6gKltrbWt52YJyYmBh6Pt1ZFVlYWnE4nCgoK0L9/fwBAY2Mjtm3bhqVLl6rdHEnsOnFe0cqAxbwJhJ/kwgW2Tb3Bu4tHqSlZDDn+VdZri71Uka5jAbDnpHqF2JSKUEB4gGYpLsYTziJUXtMkKa24ksnibHUDU3vFOF3Blm8jXJE31oC/cAgVtJTrp5ci0oPPwepWXbypWND96x9TIvSOcwgvTi6fp15ULAdbHOX0k1JLhwXemBkPx+HPHx3Gh0Ep2uUglFBR7kJkxs3dkZ2RHFFk+t/vhLgYXbJIRxq/9NhYoCfskTmM3HHHHXj++eexceNGnDx5EuvWrcOLL76Iu+66C4DXtTNz5kwsWrQI69atQ1FREe6//34kJiZi0qRJajeHmc1FpXj0PXn5AOQgNsmtmJIHpyNwAHA64rFiSh7mjMkJ+3tWs16zh0Ph8fNYv/8MCo+fR3PLqMeLJEDcw52aaJN8bSWioKK2SXFKfv/v+9aOEsXm6Q5Jwta8GSOz4UwRH7wt8A6kfGXrSP3BTyabi0pFjzEyUr9LGlu+DSDcd1Ge5WDhxmLfM8zD8iwLTRr8hB1paJcz8TR7OLxU8F3Y2DTA+45lpIS+4w8N68Z0nXDwvbTgo2JfDhGp/RSpjyzwfgeLyDk5APWXPJj8+tf4646TisWJUBuVjDnDru6I8f06+wL+WYg0ditxuUgZv/wXa60B1S0o//u//4u5c+di+vTpKCsrQ2ZmJqZNm4Y//elPvmOefPJJ1NXVYfr06b5EbZ999hlTDhQtkKu0lSA2sUQKbFOasjhSoClL0iup11bus2a7M1qYeIV44h8HBANNY6wWzL/zcvCa2Epq76kK5ppJkVZEau4qkMrrX52I6JLgEfsuQ67qEDHxVSTCFaEUepaFkr3xsAZBSg1w3FxUivkbDgdYScS4UNuE9x4KjVfYXVKONyRmJxUi2PUmtdwBi7V3yYTeAEJdTHzcBItbLz3JhrnjesGZ4t3S/PSHh0L+Lk0k5kLumJOaaJPtJlcyNovFoskdv9QuA2AUqidq0wM1E7WxJNlSk+AkSXoiJflWs4fDruPnUXjiHACvKTN4OyYrchJx+fPeQ4Pwh38eYE48xaOV8BTqL38iiUA5/bFm6mBR9wH/PQE17BHykLKjwf+7NHs4DHiuQHEcSrikVM0eDsu2HsObO0oCdlG4wohuoQRvfHzQyGszAAtw7mID89Ztqc9hsJsBAHYdP49HV+8TzYYrB//nUmrANsuuuuDie0/84wDcVexjbfCzwjomyR1zZo3qIStXkZLxUnDXaIINw7M7YOPBUlnvdLjxwmgMTdQWbagVkc7jnxcBME9VW6lJ0YIHaP9qnVLNlUqDb6Wm5Ae8g/ns9w9pMmEH9xcQmB8nP8eJkddm4N3CkzhVXouu6Ym4d0g3X64DOf2x49hPohOHWJFCvUiMi0FKvI154vFf3cVYLVgyobfsdOs8Qn3KT4588sFg/IPa/QWSM8WOiQOvxJO3XROSQ6ig2I0//PMA81Z3ua4Gf6sS71ZVKuKECI5JkTKpsVgMghNYShEnQOizMiy7g2jCRH/kvGOpiTbMGHm15L/bXFSK2R8EWneWfXHMl+U2XB+J7hqta8LHB8Vdu+FIU2AFMhttXqBoYQoTM28aWdVWSlK0yrpGVbf0VtRIr5oaLObEzND8rgY+sFTLwdwfvr+WbT2GtXu+D8mZE9wG/yBROW4Z/wkreEIUKlLYzh6Diw3SUpf7M3dsT3RItqOsqgHPbwpfuK22sRlTb7gKKfGxsoq8jc514dUpeSEuEGeKHX8al4OFG4+E7SshszyLaVwsqN1d1SCYPqCg2C35vVBjAaTlsyxnF5w/UvItyd0hJYeKmoaIO56CeWCo8E6zcGwuKhUV13yW22ABnNriYnzkpqsVB+wLEXUukTC0eYGiZpBhcF0IM5W3Zh0c3JV1eOHTb1XZ0subPZ9eVxTxuu3ssbjYcDkJnpCYU5KSXyte2vJdyGdCbQiexMQSLbHgfy5AOKV4TYs4cSTEBiQXZCE10ebbFrx+/xmmv3m78CR2Pz0Kr28vkZXhMtxq3Gq1hLWwXKhtQkGxO0CwqenaU5Id1ehYABbXm5RdcEqQu0NKjuvp0dXfSL7/3TqwBX37b4v+88fFEY8PHg8u1DXhpS1H8dpXJ3zvqZpcqG1i3tHo736T4rbUizYvUKQk2YrE8ol5AeZHNctbK03oxTo4lNc0qrKlV2pw18WGS0w5QJSk5BeCtxSwFniUS/AkJjfZk/+55m84DMASdtJMsMXgL5MH4PMjZ/GPvT+guj6yWPFfSbI+Nxdqm7D3VIXsitaA+PuSn+MMmwo/2N2m9qpUSXZUI3dZPTisGz4pcjM/X1LFlNQxidWS6v+sRKqgLtQmufef5V55g52LJbuqhNBCnPB80rJbTuyeRBqf9aomH4k2L1BY0tKz4GqJlZBLuNo/BcXukFwBUh8gFpNnepINaYlsZeHDDWZyV7B8DpDrIwx0apjN+RUabylgLfCohOBJLD/HiWS7DYUnzuH4TzX4uqScOYaEAyLuCOGPsVos+NMdvTD79p4YvPjzsNcI9sMPzEoPSdEtRll1Pcb36ywrq2o4dpeUM4sDtPzbKILfC1ZXQ5I9RvUJKz/HiWfG5uCtHSVMrreT59jy2gDiSQafG5+LMX0yQ45v9nBMbQAuPytA+IKDyyf1D6kzJWdskJJoUmmslF68U3gK7xSeEgwEP3muFi9v+S7s+CzXna82bV6gNHs4bDggLxjJn7lje8o2iQltQUxNiAUsFtGBWcoDxGryLK9pwnObIpssgdAskPwgwZrjIxyzPzgU1oWk1GwutJrXc7suX8MmeIBPiLXixuwO+Fm/zjhxrkY1wcT3V1ysFYvuyg2742fJhN4hQY4PDOvGnIAOUL4VXqz9ah2nJf6rcNb3btaobHAc8PLn8pPmBdM+Kc7X5/cPywrreuN5OaiYZbitr2JJBqev/gbTfriAOWNyAn7HKhzmju2J+4dlAQCGL90att7PjDXfBAg/lyMeY3JDt45HIjjIXqzyutKSDEZQ2uKeDHahR0JpbJJatHmBotYunoUbj8DaEswpBTFVfiFC3ADrAyTV5Bmuii0QuNoQW0VFOkckLtQ2YdnWY6Lb/ZSazYVW8+EKcKmN2Aqm7pIHXx49h6+OnUPelamqXc+/v8RcS+EscjNGZuPNnSfDWjHSk7y7eAqPn/cN8mq5N1nv98lztYbtXghehbO8d1YLsGxiHm7LdWLYks9Vbc/4fpm+MUFKKQZ+PBHbZj2+bybWHwi/9fX/vixB3yvSMKaPXykTRvHYIdnus2hKre7urqyXnCcmOMhe7D1QoySDWvDuTilb+6WIEx69YpPCoXom2WhDrVUXS9bPYJSqcv8HSCw7rBIBJiR5OHhXOfyOhuBzKxUnPG/uLAnJDsrDux3k8t8/7ys4EY/OdeG3N2ZFzCIqFwu8O1PW7P4+7MDCccDeUxdUuZ5QCvDRuS5sf2ok1kwdjFfu6Yc1Uwdj+1MjRcU1vxU4XL+U1zRh1t/2Y+LKXRi+dKuk9yASA7PS4UyJXItr7Z7vMaBrGlMmWDmEy44KwOeWKDx+Hi8VfMs0waYlxXkDLhkSuEkhOAkdX4ohHP4708Te7Td3nmJyQ85dXxTw/kqtjSRnXJZj+RQSOULjuBolGZTy6yFdsWbqYOx9Nh+vCmSt1QojLZNt3oKiVhBbJIuGf+Q3n1vhXHW9Kqq8oNiNx/++X3BF3HDJI/u8aUlxgoPRnz8uRnX9JU1dIZEi0Uf1zMA/9/0g69znRIL1NheV4rUvSzT5XvzTMHHglYrq30jF343VeMkjmpslElKCetXyX/u7GIZf3THi/S6trA8I1FWbG65uj47J8SHxYP4xE1KTPmox+AuJUgC4sn0S09+/uUP5O3C+pjHg/ZVa88eo4GLxcVx6j9hjrYrG32D8Czb6u1E/KSrFO4WnVLtOMEYGerd5gcIae6Bku54W6db9EUtC9ciqffj9LdITD/GM7+vCmztDH3y1V3tiCA3eavSlWFIvLXIS8DhVEIxSmTmqh08gLN5UjJVflQSsGJ/beATj+jjx8j15TD5moQquQgJWDf+1khTffKDu0+sOSbboDeiaKmq9+uig2/fv4B1nYjlSIqHm4B8cW+Uv8E6eq8VbO9k2AqiVqTY4yVok4ejfbo+HQ2JcDGobtdvpIobQOC6nJEPDJQ+m3ZiFv/37B8ULUasltCimvxtVC4HCGjysJW3exROpWJYFwLQbsySZ0/xfTD6gTCtxIjb28wOlkgd3vQrBw0oILsqntC95F4uH41R1hYVjxs1XB7hQ9FyN8Hkd+Oq5weZsDt5Jt8/8T5ldMvyg6HQkhDX1ixUtE3NF+qPkPvsH6u546hZYJGqjfYyutYqaJvx1x0lU1nn7YP4G6eKWLxzp8XCKXJY8/oXpNheVYvjSrZi4chceW7sfL235DhU6x1AIJeT77Y1ZIWOW1QL89sYsX7uHLdmKyW98bYg48WfHsZ98z+n1WekhhVJZ+Nu/f8Dup0dh1qgeiu6xhwMeXS0cQqDU5S2EkVnP/WnzFhRA3HztH0z55OiezNv1/He4aLUq5y064bYvcoCiQcmItOn+zFizD8//LBe35boUp67n+4uvosqjhissHNkZ7QKsaWrm3YlEp+R4NF7yYOVX4VfONY3Nkl0ycnbWsGxNbbzkwdPriiTfZ6HV3v7TFyC10hjr4fxxT687hA/3n5GVF2NA1zSM+K8vVHkW+N0v4XbZ6IkzxS6Y3VfIhcpxwGstaR6UpntQk+Dszb+67grJ7btQ24QV/zqOx0ZlI7tTO0xfrcz1KGSVlLLTjhUjs577QwKlhUhbI1m26wUPklqtytFynTG5TlWqm5qVilrvtsWkuIOoYVxNzR3bEy5HAhZuDNrC22IuDklr3uIKm8lYICxdJC5HjKNnLwbsbJGyo0Iu/s/hWztCLSdCcJDmkmG1BJ2rbkCzhxN1gfhvTe1/ZZostwzf2rljewa8v2ok04pEeU0TNhedlfW3LLVWMpLjUNPoCbsLIzXBhh4Zydh14jzKquqxcOMRw9Od11/yBGT3jVQLDABeiyCkjcRdWY/XvizBLdd2xOf/+UnS3765swSP3NQdCzeypXAQI9yuGpaddkLMvCUbWR2TKJNsNBBpayRLmXF/k5jaAXDBfm/W8uvpSXGoqGk0fNCSC6s4AbzbFMf0ceG2XGdABVsxczEfL7Fm9/dwpsTjbFV48Tl3bA4eXc2+Ol32xbGAQot8cjat/ev8c3iqnD35lpQthaxZQRduPIKVX51A/SVPxK2pgLwJyumIx519XVi48UiAKE2TYZI3C6kJNiyfnIfru6Vjxb+OC5ZU4LlQ14R7/7pbx9ZFprK2KcAqx7JYk2rtkov/2M26VZcfJ745fUHy9S7UNuHdwpOqLVaF5hV+p50Uy9nIaztiZn4PVdqkFSRQJCLmDkprEQ+OhDg0ezjEWC2K4w0euyUbg69qL5rsiiXA12oB7s7rjNe/KmF+GS0AOiXH4aeLjZKKbZkBvs8Lit0RsyXy8BlXx/VxhV3V8ibPFVbpKerFKudqgX9wbNd0tvoiPCyiWkpWUECboGq+REGn5HhU1DQKika9Yy7U5EJdE/59sgJ/+McBXdyBauMfKD3y2gzsOHbO6CZdxgJMuyEL/a9Mk/Qec/BazOQs+KQsFCIhNq/wc9MT/zjAlJV46g3dVWuTVpBAESBSjYngonX8tsPgZD8eDye5oiZPRnIcfn9Ltuh2Zb5t/IpeDA8HvP5VCX57YxY2HCiN+DLyV5s0qKuu22GVElxcTE7sTzhxwgfxNXs4OBLi8ORt16C8phHfl9fig2/ORKxxw1LPRS38i57dO6Qbnt90hPkZZBHVWrouWXD5lSho9nCiGUfNiJTkWuGsJtEA75LIW/iZosraasPHvKyYkobtT430jaes9bh+1i8Tb+44Kelesi4UwmV8Zd1VwyJOxLaimw0SKEEIBfIJZReMsVpQWdeIN3ecFKwVoTTGoKGZw6dFpQG1JipqGkNiK1yOePzmhm54Y3toZV9/NhwoxbY/3oy9pyrCns+I7bBqwbs1WLJQSmXDgVL0vSJNsP+XTuiNtCQ7dhz7SfJWxHBITU/N0yHJjh1Hz6HwxDkAFozJdeHjQ+HjHaRsKTQ6pfyvruuCjw/+iE7J8fBwXFRZGDgAOa52KC69aHRTdMNM4oTHP+aKd2my1uNKjIvFzFE9sGb39xHjnPj36t4h3ZjKDYR73yOl5OcXZiwIbUU3U+wJj4Xj9PL8qUdVVRUcDgcqKyuRkpKi2nkjRb8/MLQrrkhLRHo7Ozq1s+OJfxxQHIgnRYUr/fs1Uwf7XkahxHHOlMsPaOHx85i4cpeClulHaqINSyb09gnIdd+cway/7dfl2vyrvGJKHuqaPKpeV447qJ09BrFWa0gui7hYKxpFRKf/d2CJ2jfTs8FayJAwL/wYZkTek+AxcfjSrcz1uJwpdkwceCUq65oEc1HxvOq39VvuwtViCYzREVo0S3kvX52SBwCSSl6ohZT5mywoLfBp58M9mEJJy5TwzJhr8cb2k4pEjhRxw698w1mJjCiep5TlE/MwLLuD7//lF/VJJAdc9rXP/uCQ6unVL9Q24fZcJz4pckc+uAXvajV0kOfFyZCsdBw4UxkwEUjdUmimZ4PESfTjn4lX72rB/mNvuE0QQpytasDLW47itzdmRbxO4yUPzlTUoe8VDhz4oVJyO4PNCELZmqVYNmd/cAiVtU2ilaKNrmLMQwKlhWVbj+peDKqyrkmXrZA8nZLjRa1EwQ+mHtth1aCdPRaDg3adpCfF6doGDtrFllzVgS09OSsny2ux/0+3Brj6wlVwDTb/At4YlNtznfirRD88oT/pSTY8MyYHz28SzvprNDNu7o5Z+df4nr9Xp+SFVHbXkuDFTH6OEzNH9fDt/gsH/9yHyzNkAfD43w+gvqlZ1Q0HQtmaT56rYf57sfFKjSzQakICBd6B+E0D8okc/4n9gVKKM8XuSwwllovAqAdTySR3seFSQL4FAHA6ElRplxlITbSpaq3g69VE2kosZGXjM2n6D27Bpmcl3D+0K94pPBV1O8fMzF39OqO8ptGU4gTwppAX24BQVl3vy8/B53dRO13CyfM1KDx+HgO6pmHFv46HCJOkuJiIaQ4iJcvUym3lnxelsq5RtU0N4fKt6A0JFHhXhHqaii0AMlLs2HVC/QqZYpN9/SUPVvzrWNiAQv8Hc2BWOnPAVTCJcTGwWNiiyQE+v0hPHC2rwavbjqGuSVqAbrCo0jNbq9Z0SPbm+FAzw2ZZdX3Y4DgxK5vQqosfnB8a1g2ZqQmSth8Hc1svFwZ2ay872ybLZNJW4McBsydy5LNF85mEAfF8VAlxMczuF1be3fU93t31veg5o+F5+upoGT7Y96Pq5zU6GB6gWjwAoKubhWfiwCtVy9NggTeG5C+T8uAQSU5VWdvErLDLqusVbSWta2xGTUMz4m2RH6+78zrj6TE9sXDjEby05TvJ4gQIrfnCu6fME4sun+/P1/rSgKvFyXO1AXVaJq7cheFLt2JzUamsLdoWAJuK3Lh3SDe4HPGy+t0Cb+r3MX1ceHVKHlwySsm/OnmAJPdea3g+grG3VKeOFiMUny168abIiyE+z4eUumisREt/CfGXf53QZA4LroVmBCRQoG9QZfukOCyf1B9Nzeq9Ehy828ZG5WTAKlIdTcrVTvxUo0g989eqZxAb7+87g9+t+UaxtSO4vbwvWe0iWnrz2pfHVR08UxNteHnLdyH9zccgLdt6VPK94C1ve09ViBbeZDnHin95t2iPznVh+1MjsWbqYLxyTz+899AgOFPEhQ8v0Idmd8Ciu3KZrx3Nk5IY0ZgeAPBmEt7EkPp/dK4Lc8fm6NAidqyW6BO7SXExEdv8xD8OMBcR1QoSKFAWVMlXyH33wYERJ8P0JBvm39kLCzceYdpvz0pqog0eDzBo0RZVfM3/u/UoSnSMj1GDTsnxvkq5CzYUod+fP8NLW76L+l0eWpiYw9VDURKLVVZdr2iV+9KW73wDIm/mH9+vM4Zld8D8O8UrjgOX8zrw1492YdoWmbu+yFfduvGSB298dQJ/Wl+EN7464duF5s1irKymjdo8NDxLkdi9q18m1kwdjL9MypNVMVkONY3NEdvsrvLm8/p4/xld2iQExaBAWVAlB2D+nb0w9OoOeGBYlmD2R34Q/cWAK/D7Nd8wP8ysvtYLtU2Kq2T64+GAlz8/ilgrYPYFGZ8IqaKmEcOXbm0VcSdaEm63EQdl23b5LLTBgY7nqhuYY1PEgrRZKo77H5scbwuoWs2KmkG/LLgc8RjXx4nXvwpN+GhmtNi9db6mEW/tKIG7qh5vbA8scvn8piOYekMWbromw3TveDu7fFFhtQBLf94XcbFWbC4qRaUJyzPMWLsfB85U4hkDLFckUKAsqDI10YZvvq8IW9MhI8WOX13fBW/vPMVcC4cD4DA4CVU0iBMAuLOvS1IBPyI84ZK6ieFMsQdkofUPdGz2cHh9ewnT+xVu90CkiuP+DL6qPZwp0isacxzw87wrMOSqdMz76LAqWVD5oPj/98t+KKuqD0mMuLukHCu/Oqn4OnrCAYiPtaI+6DlJS7Thl9ddITuoW0zIejivG+hYmfky8L65Q36M2M3XdMTeUxUY0DVNVnkOvVj5VQmsFmDOGH1FCgkUBCboEXtAruuain+fuhDy+YXaprAv47g+Lvz7ZAVe+ZzdpeN0xOO6rqn46CB7gq62CL/7xwzl5VsTUsUJ4N0lFrzdmyfGapG0Eylc/FOkiuM8BcVu1F+SJy7+ue8HfHK4lHkXWjh46TT/zl4YdnUHwWPMsFtCDsHiBPAGvfa9IlWzophb//OT6udUipJF5Of/+Qmf/+cnpCfZUF5jPuuJPyu/KsETt16LuFj9IkMoBqUF3oQcvHsgPcmGZff0w5kL8gaRjw+WSlrFzbi5O+aOzSFxwsB//7wv0pLspjP5tkUqa5vwyKp9IUF1zR4OO46ew9/2/MB8LilVwPm4o/X7z6Dw+Hk0XvLglS1H8fCqfYomSDXECeAV0ZGyciqtem42/vj+Qc0SF3IAEhh2B5qR5PgYjOjRUfB3ZhcngNeK9W7hSV2vSRYUP8RMyHpWbx1yVQf84Z8HdLlWtHOupgEeyuplCoQS/Qkle4uElCqrQuc3W2bb//5534AyDEIMzEqHIz4WlREqYkcLaok7MeSkIjADDw7LkiTUzcip8lpdrxedUlRDeBPyuJbEQR8f/BE7jp3T/Lr8VklYQBYBRjolx2uSIfOmHuEnFADISI7DzFuyVb+2HlzfNU2T8/on+uOTvUl9lvlqrc0RhKfY+c0kTgCviI5EjNWCB4dHrueiBdG2PTaaeeXzY4bk3FKTrumJul6PLCgCyFn5KcF/q+Q5HXOyRDOpiTYMzErX5IX/2i/pmxhnqxsx6Kr2mNZ0SdUsr3qw51SFpuffeOhHbDrkliUW3thxEm/sOBm2qipLYU+zkJ7AlsJgxshsvLnzZETXyLjeLmw85HWjKf3+P8/rjO3HzmvyDrWzx6CmIfJWViJ6sFqAe4d00/eaul4tCpC78lOCv5+6tfmjteKBod4VpxZJ9lhNyO7KOmw4YEwio9REm2lXv6t2fa/YssUnjhNKFGVEYU+53PfWbqYsqTFWC5ZM6B32nk69oRsmD+6KB4Z1Q5oKBTH/ue8MAA6zRmXjlXv6Ye7YnorPyXNTj04kTloZU2/I0jVAFiALSgBy0nwrITXBhuWT8zD4qvYBdWSiIaJbS9KT4sIWBUuMiwHHcRi2ZKuhJtPymkbD3HFDrmqPT4rcpou5UAv/mJaR12b4qi93SLLjryavL+MPvz0WuLxFU6wO0uhcF5ZPysOz64sCBF56kg13512Bjw+WBmxHTo6PQXW9sniPs1UNeGnLUcwalY0r0xORnhSnWFwmxlnx8SFjM5CqSWt9x1ixWrziRO8txgBg4Tg90xKpQ1VVFRwOByorK5GSkqLaeQuPn8fElbtUORfLQ/2XSXkY0yfUhL3p4I+YvvobVdrBCr9y+80NWVi75zSqDQrYS0+yYcGduZIS2hlB+6Q4PDsuB7P+tt/QdlgtgdVUtdreaSRqTJpGY7UA/1l4O7b+52xolegEGx4Y1g3ZnZKxcGPg73hx8vpXJaZ+H1obz4y5FpV1TQAsiLVa8Mrn3jpmbe0eJMfHYPfT+UiIi1HtnFLmb7Kg+OGurFPtXCwPMm+mDV5R3ZbrwrQbL+ga2+B0eKvmbjhQKkmcpCbaUFnbpNqLW17ThEWbjmBUTid8fqQsbClzI1k4PlcVM7tS+P65PdeJKYO7YvBV7VFQ7Mbs9w9FfZp/nmgXJ4D3Ps354CDe3xeaNvxCnXghz/KaJqz8ypwxTsHCMTEuBrUySjPYYy2wWiym2Z2TGBeDFdtOBHy3dvYYcFx0VDdWk+r6Zuw/fYEp95AWkEDxQ++BsKy6XjAg19UiFlJlZpJNTbSh8ZKHabDg3UyVtU2SsrGmJdqweEJveDxQNc0+4N0JYuadTFNv6IYxfVxo9nCyMxCrzSdFbnzz/QXMvzNHUap3Qjs+EBAn0czcsT3hdCSgrLoeJ36q8VkZpNJwiYOZbBO1jc0hY6d/RmF7rDVqizLKwchEghQk60d6O33LSxcUnxUMyC2trMf/fVkiS5yM6+NCZW1TRHFiaflZcndvDL6qPRZuZIu9SU2wYdaobPz72XwAwNMfHpLcxmjnH3vPYHNRqS8DsVlwV10OLB18VXu4HOIVgAn9Mc8UrA7nLjb64oLe0TmBl5G0JXECGJtIUHWB0q1bN1gslpCfRx99FADAcRzmz5+PzMxMJCQk4KabbsLhw4fVboYsnCn63oiNh0pVH7Q2MZ7Tf+cQayK6uWN7Yu/cfMwYmY1lW48pztYZrVyobcLDLUJgdK4Lf5nUXxUhkKiSn3fBR95dI3PH5rS6SZEwD89vOoLH1u7H5De+RkUbHAdaO3xuLtbEiVqgukDZs2cPSktLfT8FBQUAgF/84hcAgBdeeAEvvvgili1bhj179sDpdCI/Px/V1dVqN0UyfNFAvdAiPJk1ZmPu2J6+HBOsJrwOyXYUFLsxbMnnglWb2xoLPipGs4fDmD6Z+N97+is+nxz/fTB8srQZq/fh2fVFis/nTzt7DBKjNM04QRDs+OfmEirGqReqjzYdO3aE0+n0/Xz88cfo3r07RowYAY7j8PLLL+OZZ57BhAkTkJubi7fffhu1tbVYvXq12k2RjNlM9lqycOMRX7ZOVhNeyU81eGTVPrirKJkccDlrKgCM65eJ/JxOBrfoMp8UuVWPqbrY0IxakwQyEgShHWlJNiyf1D9sDSk90HQ51NjYiFWrVuHBBx+ExWJBSUkJ3G43br31Vt8xdrsdI0aMwM6dO7VsCjOjc12YNSo6U5hLgZ9cmz0cLl3yMLko/mfrUXIZBMFbnzYXlWJLcZnBrSEIgpCH/xxQXtOEhRuPCCZK1BNNBcqHH36ICxcu4P777wcAuN3eCr0ZGRkBx2VkZPh+J0RDQwOqqqoCfrRkxshs3eNRjGDlV8cxfOlW3PvmbibhYdYtv2ojJVniueoGNF7y6Jrgj2i7/DyvMxzxtPmSUA97y4AXPH6Fy+asF5oKlDfeeAO33347MjMzAz63WALX6xzHhXzmz+LFi+FwOHw/Xbp00aS9fOn2jw/+iIkDr9TkGmZi639+MsUWWbMhJUh/4cYjGLx4C/UjoTnt7LF4f9+ZVlP1mDAHjSIDHi9Y+Fg7I9BMip86dQpbtmzBBx984PvM6XQC8FpSXK7Lvq2ysrIQq4o/c+bMweOPP+77f1VVleoiZXNRKeZvOBwQX5Fos5LP3WC6d0jC8XM1RjcjLG25LAGhHx6OIysdoTrhnin/CuVGJGvTzILy5ptvolOnThg7dqzvs6ysLDidTt/OHsAbp7Jt2zYMHTpU9Fx2ux0pKSkBP2qyuagUDwsEf+opThLjrEiyq5dOuLVgdnFCEHqhxi4vgpCDUcnaNBEoHo8Hb775Ju677z7Exl420lgsFsycOROLFi3CunXrUFRUhPvvvx+JiYmYNGmSFk2JCF+63WhqGz2oaaABiCBYGdQtDQbugCQIWUy+XpsQBS0xKlmbJgJly5Yt+P777/Hggw+G/O7JJ5/EzJkzMX36dFx33XU4c+YMPvvsMyQnJ2vRlIjsOn6+TSYbI4ho5+uTFXhoeJbRzSBMzGADk4wFwyc+mzc+F6kJNqObw4TRydrafDXj//70P1j2xXGVWkYQhBLssZaW2ixstMbqzUTr5dWW7N2vbPlOtECk2eDbrBZS5m9KC0nVSgjCNITbzScEiRMimvC0hDXOGJmN1ETzW1FSE23Iz3Eadv02L1CMKiNNEEQo9bRrjmjFzF1fhGYPhxirBUsm9Da6ORG5UNvky5ZtBG1eoAy+qr0uSlatQnAEQRDRzLJ7+iEupm1ars/XNPom/PwcJ36ed4XBLYqMUTt4ABIouinZaTd21/waBEEQZibJHgNHYhwam6Mu9FE1dhz7CZsOlmL40q34574fjG5ORIzawQOQQAHgrb/z0LBump3fagGyO7XDtBtpxwEL+T07Ip6q5hJEq6OmoRkPvrXH6GYYyrIvjmP66n1RkX06PcmGAV3TDLs+zQItjNIwEMjDAdNX78P/fVmi2TVaE8l2G8UiEEQrpamtFPVqBZTXNGHEf31hWD0eEigtVNQ0RD6I0IUP9v9odBMMYUyueLkHgiAIIzCyaCAJFHizyS7ceMToZhBtnC1HyoxuAkEQRABGFg0kgQJgd0l5VPgDidZNWw4cJAjCvPgXDdQTEigwdhsVQRAEQUQDes+VJFBg7DYqgiAIghCinckq3HdIsut6PRIoAAZmpUdF2mGCIAii7XDRZBXuPTqX7iOBEkW4HPGUS4UgwpBgs6KdPZYqbBGEBnxdcl7X68XqejWTsruk3NRFx349pCtuz3VhYFY6CordACifCkEIUdfkAUA5dAhCG/SV/mRBgfmDZH+q9uZoafZwmP3BIYNbQxAEQUQ7t+dKT06qd3FdsqDA/EGynxS58UmRG2mJsbhQe0n361tweS88QUQTthgLmmj7NkGEIDWnSVqiDYOv0legkAUF3iBZlyPe9H7rCgPECQA4HfGYekMW2tlJzxLRBYkTghDms+Kzko5fPKE3Yqz6zpI048Bb0XjeHTl4ZNW+EGtBW7Ue/H5kd3gFtgUnz9Vg5VcU90IQBNHWSEu0YfGE3hid69L92iRQWhid68KKKXlY8FFxQFbZjBQ7fnHdFXh124k2tRpb9sVxUE0vgiCIto091op8DYvphsPCcTpvbFaBqqoqOBwOVFZWIiUlRdVzN17y4N3CkzhVXouahkv4tOgsLjYa41ohCIIgCKNZM3WwagGyUuZvsqD4sbmoFPM3FMNdZe5dPUR0EmMB2pARjiCIVoJRO11JoLSwuagUD6/aZ3QziFYMiZPoYXxfF0or63G4tAo1JsvmSRB6o3eKex7axQPvdqsn/n7A6GYQBGECLBZg/YFS7D5ZQeKEIAA88Y8D2FxUqvt1SaAA+N/Pv0NNIw1EBEEA0ReVRxDacraqHo+s2qe7SGnzAqXZw2HldtpCSxAEQRBCcC0/Cz4qlpzgTQltXqDsLiknMy5BEARBRKC0sh67S8p1u16bFyhmr8NDEARBmBOzZx/XAj13ubZ5gWL2OjwEQRCEObHFtr0ptPxig27Xanu9G8TArHQkx8cY3QyCaHN0amczugkEoYjGSx6jm6A76Ulxul2rzQuUGKsFA65MM7oZBNHmKLvYZHQTCIKQiJ5ehzYvUADghuyORjeBIAiCIMyPjoE3JFAA3DukG3SuIk0QBEEQUcc5ikHRl7hYK6bekGV0MwiCIAjC1JCLxwDmjMlBnyvUrYxMEARBEK2FlPhYDMxK1+16JFBa2HTwRxz8ocroZhAEQRCEKel/ZRpidIyHIIECb7r7P75/0OhmEARBEIRpuTG7g67XI4ECYNfx85TuniAIgiBEsFq8G0p0vaauVzMphSfOGd0EgiAIgjAtU2/IQpzOmXNJoABomxUVCIIgCCIy+TmdMGdMju7X1USgnDlzBlOmTEH79u2RmJiIfv36Ye/evb7fcxyH+fPnIzMzEwkJCbjppptw+PBhLZrCxJDu7Q27NkEQBEGYmT0nK9Ds4XS/ruoCpaKiAsOGDYPNZsMnn3yC4uJi/L//9/+QmprqO+aFF17Aiy++iGXLlmHPnj1wOp3Iz89HdXW12s1hYvBV7ZFkp3o8BEEQBBHMhdomLNt6TPfrWjiOU1UWzZ49Gzt27MBXX30l+HuO45CZmYmZM2fiqaeeAgA0NDQgIyMDS5cuxbRp0yJeo6qqCg6HA5WVlUhJUSd3ycKPDuONHSdVORdBEARBtCZSE2zYOzdf8TZjKfO36haUDRs24LrrrsMvfvELdOrUCf3798fKlSt9vy8pKYHb7catt97q+8xut2PEiBHYuXOn4DkbGhpQVVUV8KM2o3Kcqp+TIAiCIFoDF+qasLukXNdrqi5QTpw4gRUrViA7OxuffvopHn74Yfz+97/HO++8AwBwu90AgIyMjIC/y8jI8P0umMWLF8PhcPh+unTponazUVHTQPV4CIIgCEKEsup6Xa+nukDxeDzIy8vDokWL0L9/f0ybNg1Tp07FihUrAo6zWALVAMdxIZ/xzJkzB5WVlb6f06dPq9rmzUWleHT1NzAgBoggCIIgogI96/AAGggUl8uFnJzA7Ug9e/bE999/DwBwOr2ulGBrSVlZWYhVhcdutyMlJSXgRy2aPRwWfFQM0iYEQRAEIUyyznV4AA0EyrBhw/Dtt98GfPbdd9+ha9euAICsrCw4nU4UFBT4ft/Y2Iht27Zh6NChajcnIrtLylFaqa/ZiiAIgiCiiTyd6/AAQKzaJ5w1axaGDh2KRYsW4Ze//CV2796N1157Da+99hoAr2tn5syZWLRoEbKzs5GdnY1FixYhMTERkyZNUrs5EXFXkTghCIIgiHDoXYcH0ECgXH/99Vi3bh3mzJmDP//5z8jKysLLL7+MyZMn+4558sknUVdXh+nTp6OiogKDBg3CZ599huTkZLWbE5Hyiw26X5MgCIIgogUj6vAAGuRB0QM186Cs2/cDZv39gEotIwiCIIjWxbg+LiyblKfKuQzNgxJtOB0JRjeBIAiCIExLfo7wBhatafMCZWBWOtKTbEY3gyAIgiBMid7bi3navECJsVpwV7/ORjeDIAiCIEyHyxGv+/ZinjYvUABKc08QBEEQQuR2TtF9ezEPCRR43TwuhzEmLIIgCIIwKwXFZdh0sNSQa5NAgdfNM3dsT6ObQRAEQRCmY+76IjQbUAuGBEoLaUl2o5tAEARBEKbjfE2j7pWMARIoPvSu0kgQBEEQ0UJBsTvyQSpDAqUFo7ZREQRBEITZWb//R93dPCRQWhiYlQ5HvOqZ/wmCIAgi6jHCzUMCpYUYq8WwbHkEQRAEYXb0DoUggeLHsOyORjeBIAiCIExJh3b6biYhgeJHp2TayUMQQqQlxsKZQnFaBNGW2UMuHgOJurrOBKEPFbWXcF23NKObQRCEgbxVeFLXQFkSKH6cq2kwugkEYVo+NiibJEEQ5uBCbZOugbIkUPygrcYEQRAEIY6egbIkUPwYmJUOZwrFoRAEQRCEEHou5Emg+BFjteBP43KMbgZBEARBmAoLAJcjHgOz0nW7JgmUIBwJcUY3gSAIgiBMx7w7chBjteh2PRIoQbz39Umjm0AQBEEQpqF9UhxWTMnD6FyXrtel3O5+bC4qxaais0Y3gyAIwpTEWC2612MhjCU9yYbCObcgLlZ/ewZZUFpo9nBY8FGx0c0gCIIwLSRO2h7Pjc81RJwAJFB87C4pR2mlvnUGCIIgiNaFjiEauvD0h0XYXGRMDiQSKC3oXQSprRIX08reXoIgCD9am5HpQm0THlm1zxCRQgKlhZPnaoxuQpugsbmVvb0EQRCtHA7Ago+KdXfxkUCB16+6Zvf3RjeDIAiCIExJaWW9rmnuARIoALzxJ+4qqsNDEARBEGLoHQpBAgUUf0IQBEEQkdC7Xh3lQQEVCSQIgiAIMSwAnDqnuQfIggIAqKgh9w5BEARBBMPvu9Q7zT1AFhQ0ezgs3HjE6GYQBEEQhOlwOuIx744c3dPcAyRQKEEbQRBhybsyFfu+v2B0MwhCd2becjV+d0sP3S0nPG3exUMBsgRBhOOb0xeMbgJBGMIrnx/Dp0Vuw67f5gUKBcgShDQ6JscZ3QRd4Si3INFG4QBMX21MFlmABAoGZqXD5YgHJWAnCDZ+qm40ugkEQejInA8OGVIoss0LlBirBfPuyDG6GQRBEARhSipqm7DrxHndr9vmBQoAjM51YcWUPDhT7EY3hfAjzgpM6O/CIzddhZ/1y8Sonp2MbhJBEETUEG+zquYdKDyuv0Bp87t4eEbnupCf48T/fH4Ur3x+1OjmEAAaPcAH35QiNdGGC7VNRjeHIAhCEXGxVjRe8uh2vfjYGNQ3qXW9VuDimT9/PiwWS8CP0+n0/Z7jOMyfPx+ZmZlISEjATTfdhMOHD6vdDFnEWC0waDcVEQYziBN6LAiCUIqe4gQALtR5x057rPKpfshVHRSfQyqauHh69eqF0tJS38+hQ4d8v3vhhRfw4osvYtmyZdizZw+cTify8/NRXV2tRVMk0ezh8OaOk0Y3gzAZFgDLJ/XHrFE94IgnoyNBENFFg0Jh5EiIxeDu7VVqDTuaCJTY2Fg4nU7fT8eOHQF4rScvv/wynnnmGUyYMAG5ubl4++23UVtbi9WrV2vRFEnsLin3KU6i7THtxiy4HIHbzl2OeKyYkger1YKXt3yHyvpLBrWO0IpgqylZywgiEIvFgoJi/fOhaCJQjh49iszMTGRlZeGee+7BiRMnAAAlJSVwu9249dZbfcfa7XaMGDECO3fuFD1fQ0MDqqqqAn60gJK2tW36X5mGbX+8GXPH9sSvh3TFM2OuxQt390FdYzOeXldkgAeW0AN+9+Qt17YspAxsC0GYkcraJjyySv98KKrbqwcNGoR33nkHPXr0wNmzZ/Hcc89h6NChOHz4MNxurwLLyMgI+JuMjAycOnVK9JyLFy/GggUL1G5qCEYnbUuwWREbY0U1rdIN4Q//OIAYqxWVJrOixcdaEW+LIeuexnzx7U9GN0EUqwV4aHg3fHTADXcVLaQIfeHgtSwu+KgY+TlO3VLfq25Buf3223H33Xejd+/eGDVqFDZu3AgAePvtt33HWCyBX47juJDP/JkzZw4qKyt9P6dPn1a72QAuJ20zihgriRMjudjQbDpxAgD1lzwkTnTAgDxUzHg4YOVXJ1FRS0nyCGPgAJRW1mN3Sblu19Q8D0pSUhJ69+6No0eP+nbz8JYUnrKyshCrij92ux0pKSkBP1oQY7Ugt7M252bhYgOJE8Lc0C43YxELdoyPpRtD6IOeoRCaC5SGhgYcOXIELpcLWVlZcDqdKCgo8P2+sbER27Ztw9ChQ7VuSkQ2HfwRBcVlRjeDIEyLhwMmD+qCxLgYo5tC+FF/ycTmH6JVoWcohOoC5Q9/+AO2bduGkpISfP311/j5z3+Oqqoq3HfffbBYLJg5cyYWLVqEdevWoaioCPfffz8SExMxadIktZsiiWYPh2fXFxnaBiL6aWePwXu/GYQjfx6NdvbWuSX5va9Po7ax2ehmEAShIxZ4dzUOzErX7Zqqj6A//PADJk6ciHPnzqFjx44YPHgwdu3aha5duwIAnnzySdTV1WH69OmoqKjAoEGD8NlnnyE5OVntpkhid0k5ymvIzy+V5PhYipvx44W7+2LY1d6ERhMHdsHKr0oMbhFBEIQyeAfivDtydAuQBQALx0VfMfGqqio4HA5UVlaqFo+yfv8ZPLZ2vyrnaiu4HPEY3cuJN3eeNLoppmDktR3x1/sHAgAWbyrG/31J4oQgiOjH5YjHvDtyMDrXpfhcUubv1mmDloHRW4yjkXl35MCREEcCpYWpN3QH4I1lInFCEEQ0k5Zow5/u6AVniteto6flhIcESgv8FuPSyraZYyAjOQ6/uK4Lln1xnOn4WaN6YHSuC80eDs4UO9xVDRq30NzYrBa8sf04PjpwBuv3/2h0cwiCIBSxeEJvVSwmStB8F0+0EGO1YN4dOW02zfXZ6ka8vp1t1e9IiMWMkVej2cNhd0k5xvQ29iE2A00eDluO/ITVu0+jhgJICYIQIZ6xcJ9Rc1Faog2vTskzXJwAZEEJYHSuC8sn9cejq79pk+muWctyPzjsKhQUu7Hgo2LTWJwsAMb2zsDHh84a3RSCIAhREuNiUX8pcsI9R6JN10rut+c6MWVwVwy+qr0h7hwhyIISRFqSvU2KE1ZSE23I7tQOj6zap7s44V8ZR0Kgrnam2LFiSh66dmina3sIQirPjLkWzpT4NmupjXbSk2yKz1HOmA1YTJz8PK8zHhjWDelJcbKuH/zsuRzxeHVKHlZMGYBhV3cwjTgByIISwhYdKjbGWIDmKFVBi36Wi4Ubiw0RcU5HPO7s68L6/aWorPPf2ux9oX6sqDOgVQTBTqeUeMy/MwePrNpndFNUJckeg5qG1uvanHHz1Rh2dQcM6JqGEf/1BdyV9YYtZP+574zv38nxMaiul9bvHdvF4cYeHZFoj0XX9ETcO6Qb4hjdTnpDAsWPZg+HdfvPRD5QARZEpzhJTbRhyYTecCTE6Wo5SU+yYe64XujUzo49J8vx8udHQ445W1WPR1btw229xMslEIQZ6JQcjyHd22PFlDzMfv9Qq6mxFGuiVbfapCbaMCu/h8+yMO+OHDxsEoEpVZwAQNnFxgCR8/r2EtW2EKuNOWWTQUhN1ibnlYxCbQIAuG9IN4zOdalWhyHYTSPGc+N7wx5jxYw1+wTFCXC5T78uOa9K21orFnj7vRXPJaamfVKcLwvn6FwXlk/OM7hF6jA4Kz3Iotm6eGBoVoDbY3SuC3f0cRrYInVxV3oXeJuLSo1uSghkQfFD6uT72C3ZopOmGlhgHkHzP58fRU9XsqJ8Mbw1xJkSDw/HYfLrX0f8m01Fpfj4YOQXhwNQUXsJ7eyxVHRRBA7A0rv7wOMBpq8WXwEO7JaK3Scv6NauaMJiAeSmtryzX2bARDf4qvZwOeINdRcoJTHOil06Vrf1JzXRhsraJk37LjXRhhkjrw74rNnD4aujrWcxxME71yz4qBgjr83AnpJyFJ44B8CCId3bGxo0SxYUP6ROvlkdk/DqlDykJioPnBLCbIPWgo+KMaBrmuTva2n5WXRXb9zZNxMA8OlhtlgfFnHizy+vu0LS8W2J1EQb8nOcGNPHhVen5MHliA/5fWqiTZY4SU1geyZ+PaQrpgy6kunYPgZWFhdDSd7tK1ITAv7PpzYAQq2xFpF/G4VY+2ob2Xb+acGvWt51LftnyYTeIZPz7pLyVuOa4+EAlFbWI29hASa/8TWWfXEcy744hsmvf40BzxUYZl0hgeIHn6yNlU7J8Rid68LeZ/Px3kODcHuu+jEQI6/tqPo55cA/wHtkrJacjnismOI1Zw9fuhUTV+7CO4WnVG6hl1uuzdBMMEY7F2qbsLvl/o3OdWH7UyOxZupgvHJPP8wa1QOVtU2ytjXeO/hK/O/E/kzH3p7rwp/u6BXRzWS1AH+bNrRV3cv0pDg0ezgUHj+P9fvPoPD4eeTnOLFiSh6cQeOOs2VnxasCv9MTC7zCNSMlsA0ZKXYk2Y2raG0BsOFAKZZP0qZ/LABm3pKNhkseFB4/j2bPZWWqlptb7LpGImR9vlDbhIcNcgGRi8cPfkUTKQDKAu8AwvuTY6wWDMvugGHZHbC5qFTV/CBTb+iOn+d1wVMfHDRFUb7CE+ckTWJzx/bE/cOyUFDsxiOr9mlmFeLvCSzi2/P0JjUh1uebZ/3eLkc85o7tiaNlNXhzR4nqKzX/wTXG6jXhNns4DF+6Vfa9eXfX9ygoPhvW5O7/zsRYLZh6Q1bYcgBTb8jC/tMXTHMv1eD78joMX7o1YGzga5xsf2okdpeUo6y6Hp2SA1OL5+c4sev4eRSeOIcdx87jm9MXdGszB+/79N5DebBaLb72sbpoedrZY3BRxV0+/IIpLSkuoO9OnqvFmt3fw12lbPxNiIsJcN/716LRsiyK3rlPpLDgo2Lk5zh1dfeQQAlidK4Lf5mUhyffPyioJiNVdRyd64ro42chWAQl22Pxm3f3oOGS0Y4f9ofT5YjHvUO6Ydfx85j9/iHNXVbz7sjBuYvGp9zne2jJ3X0AALM/OMQ86Pz3z/tiWLa3GvKMkVfjrR0lWLjxiGptExpcd5eUKxbUZ6safPc3OHZK6J2ZM8br2lj5VQn8FqewWrziZM6YHKzXeEednqQm2vDylu9C3gE+QHFFmMydnxa58ez6IpTXXM6fYYuxoEnH7YDnahowvl9n3/+l3JtZo3rgGmc739ZqNVtdVl3vE9o8M0ZejZcKvsOyL45JPh//7NYGZYP2v0/5OU5VYocs8Fqi/t8v++HcxQZ0SLLjiX8cAGBOgVJaWY/dJeUBfa015OIJYnNRKRZuLBYNtOTdFWKDSbOHw8KNxYrbwQG45/oueH5jMa5/fgvufXO35uLEahGXHxZ4BYeUh/POvi6M+K8vMPmNrzX12aYl2nz3RO+ij7fnZsCZEmqe59uTn+NEfCy7KfxczWWBFWO1oEOyXbW2pifZ4K6q18RkzZ8tMS4GaUEJpMTemTljcvCfhbdj7tie+PWQrpg7tif+s/B2n3iRcy9vMYlLVAiht5dr+Xl63SGs++ZMyL1ZvKkY01fvCxAnAJjFSVyMOkN88L1gvTfpLUGmo3Ndgq4spZw8VxvyWYzVgmFXd5B1PrFe5T9f8JF3bOdjh5Qy/85eGHZ1B4zv1xlWq0Wx5UdrtHRvCUEWFD82F5WGdUPMGpWNGSOzw5q41FiN8n73l7Zot0MoGAu8K9fXviwR3D3EC6bru6VHXD1YLcBDw73nkiKp5O5aqvCzTvBxRHrtjPj1kCwsm5Quap7fXVIuadCROxGwUF7ThFl/2w9AO5N1bWMzahubkZ5kw139OmNUjjNsJdS4WCseuuEqwd/JKeCpp/uDhdREGx4Y2i3iuyx0bzweTnFV7MZm5UGsLj9LLg/rvXnuZ5eDTHnBrqZV8OUt3+EaZ7sQ8TswK131Iqa8W2l3SblPcM3fcFjWNawWYNnEQNHOOvlPv+kqWC0WeDhg7Z7TqKhp1G1Dhd4LQLKgtNDs4bDgI/EMqRZ4H4ZIKFWY4/q4ZAcryoW3QMwZkxN2lfPSlqMY8V9f4M6+3pdKTKb9z6/64eODpZJfGrkvGb9FrtnDhd0ZIYQzxY5Zo7Lxyj398N5Dg5h3o/AWJX7yHdK9Pcb18e5Q+vjgj76VsJTnIdxEoDallfV4eNU+bDr4IwZmpauSwtufipom/HXHSVTWNcr2Wcsp4Fle04T0pDjDgw15lk/MQ7cOSZL+xt1ybx7/xwGNWiWNe66/MuQestybaTdmYUyfQOEQY7Xg/mFZqj7T/LsffJ2JA9l2i0llx7Gf0OzhMDrXhR2zb8GsUT0kn8PDIcTSyDr5r93zA5Z9cRx/+ddxlOsoToTGJ60hgdJCJMuHv3oOx8lzNUzXCx6zXY54LLunH3YeP6/bA5eaYMOsUdn497P5PiXP7+4Qe+nclfV47csS/PbGrBAhw9d0aJ8sbdWrlOB7I2ZOdjni8ZdJ/X07V9ZMHYwds2/BY6N6YHy/zhiW3QFL7u4d8XpCMRWbi0oxbMnnmLhyFx5bux8TV+7CsCWfMz8PwefjibFaMHdsT+ZzBBNpp8WMNd/g0yI37vKLL1ADf5N48OQhBf5eStnN87N+mbKvpybpSTaUXWzAuWppK2y+t1iLd2pNtw6Jgp/z9yZYbKQn2fCXSf19rrpg/BcRSuHf/bd2lIQ8Z1KFISvLvjiOAQsL8MqW7wAAj43KxkPDukk+T/DixWv1iSxSgt19eiEWd6kl5OJpgXWlG+64zUWlzG4ZD+fd4dIh2Y5OyfGoqGnEs+sPScpkK4d7B1+J67qlh7giglm753vBz/mkPhsOlGLbH2/G3lMVIa4No4Ib3ZV1KDx+3tcesfaFY3SuC9NuDO+ecvq5RwDvfRfa+eWuasBLW45GTCglZO71x5EorygYgIj1UTycN6B71qhs2dcQw184ssQuNXs4UVdZpQSLYn6OE7YYi2L3SCTa+dWfEbq3/m4bqwVQoNNkk54Up9gFcK66wWedDIZ324jdNzFG53pz8UgJIA/Hwo1HQlK2a+mOuFDXhJe2HMWbO09iyYTeGJXjxBs7Tko6R3D7CordqL8kf6eTkiSC4UhLtGHxhN6GpMIngdIC68MsdhzvIpJCh2Q7xvfrjM1FpXh0tXZbcP3JuzItIBpfCFZr0t5TFYITj95+Sp6FG48ErC54X36k7+vP5qLSsOIkOA6p2cNh9geHwp6zrmVHgFiMzbKJ/UNM4f7tmf1++PML4U1rb2MOTl6z+3s4Emyo1CCYmUX8C23P57dcL9x4hOnd4He+Deiahsf/vl92e1m52NCMWaN6YO2e7yNaDPUWJ3xfzB2bg0dX71OUlVpo8vcneBeNGMECND/HifwcJ5ZtPYa/bj+BSoVpFIJ3RMmJYZLKhdomPLJqH5ZP6s8c+8bv3vFwHNbvP+NboIabA1i2aaspTsbkZuCqjsmGZ5IlgdJCpODK4G2/wcgJju2UHB8x9kVtnI6EiMcotSbpHajKE2z6ZNnC6Q9rHNKMkZetDbuOn4+4Amy45EE7eyxiYywBx7qCLDHBRAraFoMfSh4YFjk4k8dd1YCf512Bf+77QeLVIsMLVjELidj3dFfWY/rqbyRda94dOdh7qkLxpJRoi0FtU+TVbLcOib48HO7KuhCRrAfhtnWPznVhhTUvRPxJFSzB22ylWkzEBOi8O3Lw2KhsPHJTd+QtLFBUpsI/ZTufr0OPwn4cvCKORQzyv6u/5AnII2O1hL8fWgmEYMtepDFJb0igtMA/zI+sCn3AIuU+afZw2HHsHPO1/MXOrhPnVVH4zhQ76i95wk6W/ttMww0qSq1J4fpSDu2T4vDzAZ3xWovJnvV8QgNWOKTEIfErRm/NisjwA++sUdno1iEp4sCuRLjyLqj8HCfW7jnN/HwNu7o9tvznrGoB2v7PuRwLiZTvzlfbHp3rku1i9He5siYi65Qc77MgFB4/r6s4mXZjFvpfmRbSr2lJNjw3PjcgrsxfVJyrbpC8i4Z/l2Z/cAjzNxQH7Exz+T1vUgUoL3ocCXGq1NAKfke9ea3649E132ji/uDhk8atmBIqBv3hE7EFv2ORLGxaFWMMDjVgEZt6QgLFDz7oK/gBC4458Edu5th5d+SgoNgty3zPE7yVM1K2VrFtpsEotSYB4n0ph2fH9sRdeVcIDsbpSbawcTtS4iDkWY7YX2beArP9qZGKxVIwYsJHygqyU3I8lkzoreqKk3/OhZ7LUhkWEjGWT8zzJbiT6mLkn+f7h2UFuO6kvgN65YhIiY/Fkgm9MaZPJpo9HP5TWo3Xt5/wuQDKa5qwcOMRWK0W3/vt74aRK+D4rLLBicT4XUepQVlQWQQov4B4cvS1stokhv+9uC3XBUd8keb1c8qq6zG+X+cAodYhyQ5YoEoiNkd8rGI3mBB8qIEZIYEShJSgLzkmeF4YAFCc+p3fynl9S/tG57qwfFJeSNZJIcK5P5RYk/wR6suKmkYs3ChNtPBuKaHzuavqfaIrHCyThxzL0ZDu7ZkzVmohlvwtB0LwK8gZa76JuEp74h8H8KdxPUMmGrnMHNUD+TlORWn0I8ELhcF+/SnVxcgBGJPrfa74d927eypHMCO02DugR+xVepINu+aMQlys1RufJBJkGu79VrudfB8Ht4NFgPLvRDljBuh7B1+Jd3cJB/D74/8d9Srux19TLCbnlS3fKUrElp/j1NQFa0ZIoAjAEvQlxwTPB1gCUGXQDnZhFBS7sXBjcYA4EYvsjuT+kGNNEkKoL29rmQx4n73YLgOhVWrw+QqPs5U9Z3kJ5ViOBl/VXvKErqZY8rcciDGmTyaWwRKx/IK7Sj2LBgA0NTfjpYJvVQtSZBXLUlyMvA/+jR0n8caOkwELCLGM0GLvgJaxV/y3W3RXb584CWfp4q8/+/1DSI63BQQ66hE8KpX0pDimd2/uuF7YcqRMc8vW9JuuwuqvTzMJGxaLspQdnkKkJ9kwtHt7JoGSyhgcz9Juo6E8KDKRYoLn84M8NqoHYqwWVbLN8vArkGVbj+GRVftCzhvO7xopt0twxds1Uwdj+1MjFQdQ8SLjrrwrsOiuXADi5dwjWWr4wTZSin6WlzBckrdwk+GSCZFzp/gTTnzw1W7dlXVhE47x32swY+mBMX2826f1xFuy/biic/Df8y8CVWvDlZ0Qy4XDJ+Z7sCVvRbBViXdXPCzwLvHMHdtTdDeLlCSBUvD/rlJ2DF6oa8Lk17/G8KVbfdVo5STA0xqnI4Hp3YuLtYY9js947Z8sUY6FoH2SXZLVJdw4JWeHZzDlNU14bhPbOZZPyguoUm6B/PHVaMiCIhNWVT7j5u6YlX9NwEOgha/6/748LnvVFq49rFsI5aLUUqOWO0pJe/icDvPWH8bZMEm5Iq1YWOOZ5HyvZg+HDQf0L5euhODdKLzljXX3iJi7FvBaMIVg2SK6cOMR3JbrEs0LIvT8KM2D4i+K5CxwhFw+QpVz42OtqL/kUSW4nQX/dyLGamF698T62CFQIoSPg5GyBdjpiEd6O7YaWJFcrIC0+xXuOWHJkeVMsWNw98Btwdc42ym2hBsFCRSZsKryYVd3DBnItPD5BVfflILRPki5yZ78/14Nd5RYe/wD3cR2QPF/s2zrMbzUkmHSn0iiQko8k5zvpabVTi+Cv6ccsSz0N4XH5e+cY4kjEou9enS1eDXfpLgY1Ii8w8GiSM4Cx9+l6/FANOdG/SUPpt2YhQ0HSgPfpRQ7qusvibZRDkLvBOtYEHzcyXO1otWiH139DX7bknyRtT2OBLbkiCwuVin368W7+2Lux4dRHSEYVkxA1l/yoKDYHTA2+PeVu7IO5TWNSG9nhyMhTjQBn1kggSITJTtdjMoTEoyZfJBKLTVKRY5YezYXleIP/zwgmL9BKLj4sVHZklcsLPFM6Uk2zB3XC84Ued9LzqSm1yraHz22PKphwYx0DqHnWSgficsRj3uu7xI2PiFYFMldUPDneXZ9Udg8HUJZogd0TcPARVsABQIlODZC7J1gHQv445o9nGhMn3/m69/ckIU3tpeIWij828O6i4vFxSrlfrGIEwBIsscKbsuubEkcF+z6jLFaUFnXiBc+/ZZpLDMLJFBkosS1oHaeEDlEiw9SCmq7o1jyN4i5fKSIJRbrRnlNE5wp8bK/n9RJbeYt2fjbv0+HrKLrL3nCpu2Xi9BWX61Qw2Io5xxiz8XHB39k+nteFCld4ITb4SeWJbqQISFhJJZPyoO1xQKkpgBlzV+08itxC0pwhmg1XccDs9KZA1dZxAnfPiHENj/IHcuMhoJkg+CDFNfvP+MLshJDNBAvTPBepL/VamwOPi9LG82MlPsk93gxqwb/WbhCeLxYGt+vM4Z0D58qWo06UJGQUhU5NdGG392SHRIgvWP2Lb6AYLGgOznoLZYjBVaHQ0rQtRBCz4XU7e1aBuPyBD9rSq1O7ZPiMLh7e+Z3QgpK28bnJwpGyfjuT4zVggdkFBMMR7iSFMGbH5SOZUZCFhQ/wqVjDpdnQq5rQY6vWip8K5ZN7I+0JHvYNoYr1mYmpN4nOfdVTlZZuUiZoOTeI/8VYaTnasmE3r5zBn+3cPE+fFKucGZxR6IN8bExAfkg1AzYY+mfSKtjTuDf/P8B9YWUHHexmokQhQh+JpVanRaOz9VsLFHatnDvslqu4xkjs/HmzpOKrVAWsNfY4oWbnmOZ2pBAaUGJCUyJa4HVVx0JpYO/nEncCKTeJ7n3VQ+rBg/rBFVR04jhS7fKvkeRJjVnih3z7+wV8Vz5OU4k220taf4tAQXFrFZLWLP4kgm9VY0V8kfKMxwpsBqAbjsf5LoTgifPo2cvMicNFEMsLk2JW2najVmixTDVQK2YPndlneDnariO+XQESpNzAuw1tnjhJnUsM9NC1cJxWlYo0Iaqqio4HA5UVlYiJSVF8fn4ICsxQcC/tCwpytWi2cNh1/HzKDxxDsd/qsEnRe6If/OqgkJeQi8O/1dmcQVJvU9K7mvh8fOYuHJXxDatmTpYlVUHfw8A4QmK34Wgxj3iByD/iH7W4FsWEWCE2JX7DIcbjPUeqJX2G+szyyMmhsT6KtwzygEhCQvTW2oCjemTydwmuURqGwvpSXFYdFeupmOd0D2OVK6Dp31SHJ6/K9eXnTnSgoYf16SMZZV1jZq/u1LmbxIo0HcyYh30pNb4SU20Ye+z+ZIHUDOKMzGk3icl95XvF9ZBQA0iFdQz+h5JEQF6Tu7R9AxHQkm/ReqHYNKT4gICZlkmonAiSivLGCuR3p9IFpbg51irZzj4vAO6pmHEf30Rtn3+JQ747xpOkPnX5op0fv794Ksxa71QlTJ/k4sH+pnzWVdIcmr8XKhtkuVDjCb/pNT7pOS+qp0AjgUxf7eUe8Qfr8WgGi7QLnjngNYJ/vzR+xnWUnwpdRdLKQ45d2xPOB0Jkr5HpJgMI8eIcG3jXY/hCM4VE1wzTC1LgtA9jjTW8CUO/L+rlGR1d/Z14bUvS0TP7xVx7O+3XpBAgbwicVJhiYXIz3Fi1/HzmP3+IVl+SjkCSs9YC6VIvU9K76vaCeBYEBq8WPu+oNiNx/++X5NB1cxCVs9n2OyxWqNzXZg1KpspRsHpSJB1r/QUn1IRaxv/Lj+97hBT9XOhulVqbskNFrn5OU5ZGaxZk9W99mUJfiuUgK/l/I6EOFO+3yRQoCzpWjj8ff2RSo7P/uAQ5m8oVlTtUo6A0kOcRYJ1RSr1PqlxX9VOACcH1r7/646TIZ+pNaiaWcjq9QxHSy6JGSOzsWb3adGxxEwJGvVkdK4LdU0epurnQqhlSQgncrc/NVLSWCM1WV1wAj7+/Ov3n2Fqu97vNwkUaGPOlxJDwoEvVS5vC5qSAUcrccaKlBWp/30SaicQeJ/Uuq96rBjDiTSWXQpiNTzUGlT1FrJS3Ch6PMNSXVxGEmO1YP6dOWGDrltTgkYpOFO025LMglYil9XCGZyAj8cMC1UhNE/UtnjxYlgsFsycOdP3GcdxmD9/PjIzM5GQkICbbroJhw8f1ropYVErKQ9w+SHUo/aJ2IDDmpgsXNInrQczsX7iX1a++mowvJ/Vn9REm+B9UvO+asXmolIMX7oVE1fuwmNr92Piyl2C1WcB8XsULsdScOImOahZNToSkfojGD2eYSkuLjMQDc+9EShJ0uePHEuClgnTlFo49Xy/paCpBWXPnj147bXX0KdPn4DPX3jhBbz44ot466230KNHDzz33HPIz8/Ht99+i+TkZC2bFBY1zPksdVXURMhHKdVPbkSshZwVabjg4YowCZDM4KYRg3VFFe4ejcl14g0B904wSsyzegUNKykvoOUzbGYXlxhqPfdmyouhFNYkfZGQY0nQMo5LqQXEiE0BLGgmUC5evIjJkydj5cqVeO6553yfcxyHl19+Gc888wwmTJgAAHj77beRkZGB1atXY9q0aVo1iQml5nwtq8YKbSELHiz0qh+jFKkvayThF8nEbsbAPqkiLdwuHxaBotQ8q7UIUOpG0fIZNqsJPBJKn3uzBwXLQWk2ZLnuQi1FrlrxdnovVCOhmUB59NFHMXbsWIwaNSpAoJSUlMDtduPWW2/1fWa32zFixAjs3LnTcIGiFC1XUJEeFKUDvJ6TuNSX1cy7SOQi5zsJ3SM944i0FAFq3GOtnmGjY7WMIFqCguXAsiVZbUuCliJXLQuI2azNmgiUtWvXYt++fdizZ0/I79xub0bUjIyMgM8zMjJw6tQpwfM1NDSgoaHB9/+qqioVW6suUh8ulgqxqQk2LJ+c50snLkY0TeJSX1ZWQSOWrtqMqLWi0ts8q5UIMJsbJdi1wSeyMpMJXCvkLHaizRUUaUuy2pYErUWuWu02k7VZdYFy+vRpPPbYY/jss88QHy8+CVksgQ8ux3Ehn/EsXrwYCxYsULWdWsGy4yI9yYa543r50osXFLvD1y+5uzeGXd0h5DzBAwLrFmUz+MmlvqysgmbhxiNIiIuJipWdmisqM5pnpWImN4qYayNcLolo6GNWpC52WpsrSAtLgh4LCbNZQJSieqr7Dz/8EHfddRdiYmJ8nzU3N8NiscBqteLbb7/F1VdfjX379qF///6+Y8aPH4/U1FS8/fbbIecUsqB06dJFtVT3ahOproqQaVSNCr2sNR3Uqh+jFCn9FCn1fLi/NStapNOPtlWsP0aUFxAiUkr/5ZMiVwaPdtbvP4PH1u6PeNwr9/SDPdYaFbW8zEJrE3NSMbQWT3V1dYir5oEHHsC1116Lp556Cr169UJmZiZmzZqFJ598EgDQ2NiITp06YenSpUwxKGrX4tECOQ+hlDo9cqpi6jXAS0FKP7F+bzN+T0D4/vLWM0Ba4bbWihxxryatqa6PEljrWL330CD84Z8H2nx/SSWaFxJKMbQWT3JyMnJzcwM+S0pKQvv27X2fz5w5E4sWLUJ2djays7OxaNEiJCYmYtKkSWo3xzDkmNpYfH+s25ijxU8upZ+kpqs2Q6wNTzghFu2uGTUx2lUVTXFcWsLqgoUF1F8yMFOch5kxJJPsk08+ibq6OkyfPh0VFRUYNGgQPvvsM0NzoGiBFg8h6zbmtKBKpWae8KT0k5R01WaItQHYdkNITXHdmjHSj262QF2jYI2XOHexQeCvQ2nt/UVogy4C5V//+lfA/y0WC+bPn4/58+frcflWBeuLLqdSabTAmq7aDDkppOyGoBXVZYxaYZopUNdoWKxZhcfPM52rLfQXoT5UiyfKYH3R5VYqjQaiKScFuQyii2h6tvQgkjWL+ovQEs1r8RDqYtaaCXpiZP0gqZDLILqIpmdLL3hr1vh+nTGke2AuJuovQktIoEQZNCB4iZZiaOQyiD6i5dkyC9RfhFaovs1YD6Jhm7HWtPW99Dxm365nltwehHTM/myZDeovggVD86DoAQkULzQgRAdG5/YgjIHeT4IIhQQKQZgMsni1Leh+E4QwJFAIwoTQirptEClVPlnMiLaMoZlkCYIQhrJHtn7kVAEmCEIY2sVDEAShElLy3hAEER4SKARBECpBeW8IQj1IoBAEQagE5b0hCPUggUIQBKESlOmZINSDBApBEIRKsGR6nju2J3aXlGP9/jMoPH4ezZ6o20hJELpAu3gIgiBUJFwV4Dv7urBw4xHKj0IQDFAeFIIgCA0IzntTUdOIR1dTfhSibUN5UAiCIAzGP+8NX5OJ8qMQBDsUg0IQBKExlB+FIKRDAoUgCEJjKD8KQUiHBApBEITGUH4UgpAOCRSCIAiNofwoBCEdEigEQRAaw5IfZd4dORQgSxB+kEAhCILQAT4/itMR6MZxOuJpizFBCEDbjAmCIHRidK4L+TnOgPwoA7PSyXJCEAKQQCEIgtAR//woBEGIQy4egiAIgiBMBwkUgiAIgiBMBwkUgiAIgiBMBwkUgiAIgiBMBwkUgiAIgiBMBwkUgiAIgiBMBwkUgiAIgiBMBwkUgiAIgiBMBwkUgiAIgiBMR1RmkuU4DgBQVVVlcEsIgiAIgmCFn7f5eTwcUSlQqqurAQBdunQxuCUEQRAEQUiluroaDocj7DEWjkXGmAyPx4Mff/wRycnJsFjULbJVVVWFLl264PTp00hJSVH13K0N6it2qK/Yob6SBvUXO9RX7GjVVxzHobq6GpmZmbBaw0eZRKUFxWq14oorrtD0GikpKfQAM0J9xQ71FTvUV9Kg/mKH+oodLfoqkuWEh4JkCYIgCIIwHSRQCIIgCIIwHSRQgrDb7Zg3bx7sdrvRTTE91FfsUF+xQ30lDeovdqiv2DFDX0VlkCxBEARBEK0bsqAQBEEQBGE6SKAQBEEQBGE6SKAQBEEQBGE6SKAQBEEQBGE6SKD48Ze//AVZWVmIj4/HgAED8NVXXxndJM358ssvcccddyAzMxMWiwUffvhhwO85jsP8+fORmZmJhIQE3HTTTTh8+HDAMQ0NDfjd736HDh06ICkpCXfeeSd++OGHgGMqKipw7733wuFwwOFw4N5778WFCxc0/nbqsXjxYlx//fVITk5Gp06d8LOf/QzffvttwDHUV5dZsWIF+vTp40vyNGTIEHzyySe+31NfCbN48WJYLBbMnDnT9xn11WXmz58Pi8US8ON0On2/p74K5MyZM5gyZQrat2+PxMRE9OvXD3v37vX93vT9xREcx3Hc2rVrOZvNxq1cuZIrLi7mHnvsMS4pKYk7deqU0U3TlE2bNnHPPPMM9/7773MAuHXr1gX8fsmSJVxycjL3/vvvc4cOHeJ+9atfcS6Xi6uqqvId8/DDD3OdO3fmCgoKuH379nE333wz17dvX+7SpUu+Y0aPHs3l5uZyO3fu5Hbu3Mnl5uZy48aN0+trKua2227j3nzzTa6oqIjbv38/N3bsWO7KK6/kLl686DuG+uoyGzZs4DZu3Mh9++233Lfffss9/fTTnM1m44qKijiOo74SYvfu3Vy3bt24Pn36cI899pjvc+qry8ybN4/r1asXV1pa6vspKyvz/Z766jLl5eVc165dufvvv5/7+uuvuZKSEm7Lli3csWPHfMeYvb9IoLQwcOBA7uGHHw747Nprr+Vmz55tUIv0J1igeDwezul0ckuWLPF9Vl9fzzkcDu7VV1/lOI7jLly4wNlsNm7t2rW+Y86cOcNZrVZu8+bNHMdxXHFxMQeA27Vrl++YwsJCDgD3n//8R+NvpQ1lZWUcAG7btm0cx1FfsZCWlsa9/vrr1FcCVFdXc9nZ2VxBQQE3YsQIn0Chvgpk3rx5XN++fQV/R30VyFNPPcUNHz5c9PfR0F/k4gHQ2NiIvXv34tZbbw34/NZbb8XOnTsNapXxlJSUwO12B/SL3W7HiBEjfP2yd+9eNDU1BRyTmZmJ3Nxc3zGFhYVwOBwYNGiQ75jBgwfD4XBEbf9WVlYCANLT0wFQX4WjubkZa9euRU1NDYYMGUJ9JcCjjz6KsWPHYtSoUQGfU1+FcvToUWRmZiIrKwv33HMPTpw4AYD6KpgNGzbguuuuwy9+8Qt06tQJ/fv3x8qVK32/j4b+IoEC4Ny5c2hubkZGRkbA5xkZGXC73Qa1ynj47x6uX9xuN+Li4pCWlhb2mE6dOoWcv1OnTlHZvxzH4fHHH8fw4cORm5sLgPpKiEOHDqFdu3aw2+14+OGHsW7dOuTk5FBfBbF27Vrs27cPixcvDvkd9VUggwYNwjvvvINPP/0UK1euhNvtxtChQ3H+/HnqqyBOnDiBFStWIDs7G59++ikefvhh/P73v8c777wDIDqeraisZqwVFosl4P8cx4V81haR0y/BxwgdH639O2PGDBw8eBDbt28P+R311WWuueYa7N+/HxcuXMD777+P++67D9u2bfP9nvoKOH36NB577DF89tlniI+PFz2O+srL7bff7vt37969MWTIEHTv3h1vv/02Bg8eDID6isfj8eC6667DokWLAAD9+/fH4cOHsWLFCvz617/2HWfm/iILCoAOHTogJiYmRO2VlZWFqMu2BB8dH65fnE4nGhsbUVFREfaYs2fPhpz/p59+irr+/d3vfocNGzbgiy++wBVXXOH7nPoqlLi4OFx99dW47rrrsHjxYvTt2xevvPIK9ZUfe/fuRVlZGQYMGIDY2FjExsZi27Zt+J//+R/Exsb6vgf1lTBJSUno3bs3jh49Ss9VEC6XCzk5OQGf9ezZE99//z2A6BizSKDAO5AOGDAABQUFAZ8XFBRg6NChBrXKeLKysuB0OgP6pbGxEdu2bfP1y4ABA2Cz2QKOKS0tRVFRke+YIUOGoLKyErt37/Yd8/XXX6OysjJq+pfjOMyYMQMffPABtm7diqysrIDfU19FhuM4NDQ0UF/5ccstt+DQoUPYv3+/7+e6667D5MmTsX//flx11VXUV2FoaGjAkSNH4HK56LkKYtiwYSGpEL777jt07doVQJSMWYpCbFsR/DbjN954gysuLuZmzpzJJSUlcSdPnjS6aZpSXV3NffPNN9w333zDAeBefPFF7ptvvvFtr16yZAnncDi4Dz74gDt06BA3ceJEwW1oV1xxBbdlyxZu37593MiRIwW3ofXp04crLCzkCgsLud69e0fVtr1HHnmEczgc3L/+9a+ALY61tbW+Y6ivLjNnzhzuyy+/5EpKSriDBw9yTz/9NGe1WrnPPvuM4zjqq3D47+LhOOorf5544gnuX//6F3fixAlu165d3Lhx47jk5GTfOE19dZndu3dzsbGx3PPPP88dPXqUe++997jExERu1apVvmPM3l8kUPxYvnw517VrVy4uLo7Ly8vzbSFtzXzxxRccgJCf++67j+M471a0efPmcU6nk7Pb7dyNN97IHTp0KOAcdXV13IwZM7j09HQuISGBGzduHPf9998HHHP+/Hlu8uTJXHJyMpecnMxNnjyZq6io0OlbKkeojwBwb775pu8Y6qvLPPjgg753qWPHjtwtt9ziEyccR30VjmCBQn11GT5Ph81m4zIzM7kJEyZwhw8f9v2e+iqQjz76iMvNzeXsdjt37bXXcq+99lrA783eXxaO4zhlNhiCIAiCIAh1oRgUgiAIgiBMBwkUgiAIgiBMBwkUgiAIgiBMBwkUgiAIgiBMBwkUgiAIgiBMBwkUgiAIgiBMBwkUgiAIgiBMBwkUgiAIgiBMBwkUgiAIgiBMBwkUgiAIgiBMBwkUgiAIgiBMBwkUgiAIgiBMx/8HXlIS2Bn6oYIAAAAASUVORK5CYII="/>
          <p:cNvSpPr>
            <a:spLocks noChangeAspect="1" noChangeArrowheads="1"/>
          </p:cNvSpPr>
          <p:nvPr/>
        </p:nvSpPr>
        <p:spPr bwMode="auto">
          <a:xfrm>
            <a:off x="63500" y="-21194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 dirty="0"/>
          </a:p>
        </p:txBody>
      </p:sp>
      <p:pic>
        <p:nvPicPr>
          <p:cNvPr id="17" name="Picture 16" descr="C:\Users\DELL\AppData\Local\Microsoft\Windows\INetCache\Content.MSO\5D79239D.tmp"/>
          <p:cNvPicPr/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901" y="4709274"/>
            <a:ext cx="1699641" cy="1567781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TextBox 9"/>
          <p:cNvSpPr txBox="1"/>
          <p:nvPr/>
        </p:nvSpPr>
        <p:spPr>
          <a:xfrm>
            <a:off x="6156864" y="977250"/>
            <a:ext cx="5693790" cy="5158859"/>
          </a:xfrm>
          <a:prstGeom prst="flowChartAlternateProcess">
            <a:avLst/>
          </a:prstGeom>
          <a:noFill/>
          <a:ln>
            <a:solidFill>
              <a:srgbClr val="E98521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Clr>
                <a:schemeClr val="bg1"/>
              </a:buClr>
              <a:buFont typeface="Wingdings" panose="05000000000000000000" pitchFamily="2" charset="2"/>
              <a:buChar char="q"/>
            </a:pPr>
            <a:r>
              <a:rPr lang="en-IN" b="1" dirty="0" smtClean="0">
                <a:solidFill>
                  <a:schemeClr val="bg1"/>
                </a:solidFill>
                <a:latin typeface="Comic Sans MS" panose="030F0702030302020204" pitchFamily="66" charset="0"/>
              </a:rPr>
              <a:t>Binary classification </a:t>
            </a:r>
            <a:r>
              <a:rPr lang="en-IN" dirty="0" smtClean="0">
                <a:solidFill>
                  <a:schemeClr val="bg1"/>
                </a:solidFill>
                <a:latin typeface="Comic Sans MS" panose="030F0702030302020204" pitchFamily="66" charset="0"/>
              </a:rPr>
              <a:t>structure identified</a:t>
            </a:r>
          </a:p>
          <a:p>
            <a:pPr marL="285750" indent="-285750">
              <a:lnSpc>
                <a:spcPct val="150000"/>
              </a:lnSpc>
              <a:buClr>
                <a:schemeClr val="bg1"/>
              </a:buClr>
              <a:buFont typeface="Wingdings" panose="05000000000000000000" pitchFamily="2" charset="2"/>
              <a:buChar char="q"/>
            </a:pPr>
            <a:r>
              <a:rPr lang="en-US" dirty="0" smtClean="0">
                <a:solidFill>
                  <a:schemeClr val="bg1"/>
                </a:solidFill>
                <a:latin typeface="Comic Sans MS" panose="030F0702030302020204" pitchFamily="66" charset="0"/>
              </a:rPr>
              <a:t>Age distribution is </a:t>
            </a:r>
            <a:r>
              <a:rPr lang="en-US" b="1" dirty="0" smtClean="0">
                <a:solidFill>
                  <a:schemeClr val="bg1"/>
                </a:solidFill>
                <a:latin typeface="Comic Sans MS" panose="030F0702030302020204" pitchFamily="66" charset="0"/>
              </a:rPr>
              <a:t>continuous</a:t>
            </a:r>
            <a:r>
              <a:rPr lang="en-US" dirty="0" smtClean="0">
                <a:solidFill>
                  <a:schemeClr val="bg1"/>
                </a:solidFill>
                <a:latin typeface="Comic Sans MS" panose="030F0702030302020204" pitchFamily="66" charset="0"/>
              </a:rPr>
              <a:t> &amp; </a:t>
            </a:r>
            <a:r>
              <a:rPr lang="en-US" b="1" dirty="0" smtClean="0">
                <a:solidFill>
                  <a:schemeClr val="bg1"/>
                </a:solidFill>
                <a:latin typeface="Comic Sans MS" panose="030F0702030302020204" pitchFamily="66" charset="0"/>
              </a:rPr>
              <a:t>slightly skewed</a:t>
            </a:r>
          </a:p>
          <a:p>
            <a:pPr marL="285750" indent="-285750">
              <a:lnSpc>
                <a:spcPct val="150000"/>
              </a:lnSpc>
              <a:buClr>
                <a:schemeClr val="bg1"/>
              </a:buClr>
              <a:buFont typeface="Wingdings" panose="05000000000000000000" pitchFamily="2" charset="2"/>
              <a:buChar char="q"/>
            </a:pPr>
            <a:r>
              <a:rPr lang="en-IN" dirty="0" smtClean="0">
                <a:solidFill>
                  <a:schemeClr val="bg1"/>
                </a:solidFill>
                <a:latin typeface="Comic Sans MS" panose="030F0702030302020204" pitchFamily="66" charset="0"/>
              </a:rPr>
              <a:t>Possible presence of </a:t>
            </a:r>
            <a:r>
              <a:rPr lang="en-IN" b="1" dirty="0" smtClean="0">
                <a:solidFill>
                  <a:schemeClr val="bg1"/>
                </a:solidFill>
                <a:latin typeface="Comic Sans MS" panose="030F0702030302020204" pitchFamily="66" charset="0"/>
              </a:rPr>
              <a:t>outliers</a:t>
            </a:r>
          </a:p>
          <a:p>
            <a:pPr marL="285750" indent="-285750">
              <a:lnSpc>
                <a:spcPct val="150000"/>
              </a:lnSpc>
              <a:buClr>
                <a:schemeClr val="bg1"/>
              </a:buClr>
              <a:buFont typeface="Wingdings" panose="05000000000000000000" pitchFamily="2" charset="2"/>
              <a:buChar char="q"/>
            </a:pPr>
            <a:r>
              <a:rPr lang="en-US" dirty="0" smtClean="0">
                <a:solidFill>
                  <a:schemeClr val="bg1"/>
                </a:solidFill>
                <a:latin typeface="Comic Sans MS" panose="030F0702030302020204" pitchFamily="66" charset="0"/>
              </a:rPr>
              <a:t>Data appears </a:t>
            </a:r>
            <a:r>
              <a:rPr lang="en-US" b="1" dirty="0" smtClean="0">
                <a:solidFill>
                  <a:schemeClr val="bg1"/>
                </a:solidFill>
                <a:latin typeface="Comic Sans MS" panose="030F0702030302020204" pitchFamily="66" charset="0"/>
              </a:rPr>
              <a:t>clean </a:t>
            </a:r>
            <a:r>
              <a:rPr lang="en-US" dirty="0" smtClean="0">
                <a:solidFill>
                  <a:schemeClr val="bg1"/>
                </a:solidFill>
                <a:latin typeface="Comic Sans MS" panose="030F0702030302020204" pitchFamily="66" charset="0"/>
              </a:rPr>
              <a:t>and </a:t>
            </a:r>
            <a:r>
              <a:rPr lang="en-US" b="1" dirty="0" smtClean="0">
                <a:solidFill>
                  <a:schemeClr val="bg1"/>
                </a:solidFill>
                <a:latin typeface="Comic Sans MS" panose="030F0702030302020204" pitchFamily="66" charset="0"/>
              </a:rPr>
              <a:t>usable</a:t>
            </a:r>
          </a:p>
          <a:p>
            <a:pPr marL="285750" indent="-285750">
              <a:lnSpc>
                <a:spcPct val="150000"/>
              </a:lnSpc>
              <a:buClr>
                <a:schemeClr val="bg1"/>
              </a:buClr>
              <a:buFont typeface="Wingdings" panose="05000000000000000000" pitchFamily="2" charset="2"/>
              <a:buChar char="q"/>
            </a:pPr>
            <a:r>
              <a:rPr lang="en-US" dirty="0" smtClean="0">
                <a:solidFill>
                  <a:schemeClr val="bg1"/>
                </a:solidFill>
                <a:latin typeface="Comic Sans MS" panose="030F0702030302020204" pitchFamily="66" charset="0"/>
              </a:rPr>
              <a:t>Class-wise age distribution indicates </a:t>
            </a:r>
            <a:r>
              <a:rPr lang="en-US" b="1" dirty="0" smtClean="0">
                <a:solidFill>
                  <a:schemeClr val="bg1"/>
                </a:solidFill>
                <a:latin typeface="Comic Sans MS" panose="030F0702030302020204" pitchFamily="66" charset="0"/>
              </a:rPr>
              <a:t>partial separation</a:t>
            </a:r>
          </a:p>
          <a:p>
            <a:pPr marL="285750" indent="-285750">
              <a:lnSpc>
                <a:spcPct val="150000"/>
              </a:lnSpc>
              <a:buClr>
                <a:schemeClr val="bg1"/>
              </a:buClr>
              <a:buFont typeface="Wingdings" panose="05000000000000000000" pitchFamily="2" charset="2"/>
              <a:buChar char="q"/>
            </a:pPr>
            <a:r>
              <a:rPr lang="en-US" b="1" dirty="0" smtClean="0">
                <a:solidFill>
                  <a:schemeClr val="bg1"/>
                </a:solidFill>
                <a:latin typeface="Comic Sans MS" panose="030F0702030302020204" pitchFamily="66" charset="0"/>
              </a:rPr>
              <a:t>No perfect separation </a:t>
            </a:r>
            <a:r>
              <a:rPr lang="en-US" dirty="0" smtClean="0">
                <a:solidFill>
                  <a:schemeClr val="bg1"/>
                </a:solidFill>
                <a:latin typeface="Comic Sans MS" panose="030F0702030302020204" pitchFamily="66" charset="0"/>
              </a:rPr>
              <a:t>thus a single feature is not sufficient</a:t>
            </a:r>
          </a:p>
          <a:p>
            <a:pPr marL="285750" indent="-285750">
              <a:lnSpc>
                <a:spcPct val="150000"/>
              </a:lnSpc>
              <a:buClr>
                <a:schemeClr val="bg1"/>
              </a:buClr>
              <a:buFont typeface="Wingdings" panose="05000000000000000000" pitchFamily="2" charset="2"/>
              <a:buChar char="q"/>
            </a:pPr>
            <a:r>
              <a:rPr lang="en-US" dirty="0" smtClean="0">
                <a:solidFill>
                  <a:schemeClr val="bg1"/>
                </a:solidFill>
                <a:latin typeface="Comic Sans MS" panose="030F0702030302020204" pitchFamily="66" charset="0"/>
              </a:rPr>
              <a:t>EDA supports </a:t>
            </a:r>
            <a:r>
              <a:rPr lang="en-US" b="1" dirty="0" smtClean="0">
                <a:solidFill>
                  <a:schemeClr val="bg1"/>
                </a:solidFill>
                <a:latin typeface="Comic Sans MS" panose="030F0702030302020204" pitchFamily="66" charset="0"/>
              </a:rPr>
              <a:t>multi-feature modeling </a:t>
            </a:r>
            <a:r>
              <a:rPr lang="en-US" dirty="0" smtClean="0">
                <a:solidFill>
                  <a:schemeClr val="bg1"/>
                </a:solidFill>
                <a:latin typeface="Comic Sans MS" panose="030F0702030302020204" pitchFamily="66" charset="0"/>
              </a:rPr>
              <a:t>approach</a:t>
            </a:r>
            <a:endParaRPr lang="en-IN" dirty="0">
              <a:solidFill>
                <a:schemeClr val="bg1"/>
              </a:solidFill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55784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  <a14:imgEffect>
                      <a14:sharpenSoften amount="-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itle 6"/>
          <p:cNvSpPr txBox="1">
            <a:spLocks noGrp="1"/>
          </p:cNvSpPr>
          <p:nvPr>
            <p:ph type="title"/>
          </p:nvPr>
        </p:nvSpPr>
        <p:spPr>
          <a:xfrm>
            <a:off x="507095" y="271185"/>
            <a:ext cx="10846705" cy="783193"/>
          </a:xfrm>
          <a:prstGeom prst="roundRect">
            <a:avLst/>
          </a:prstGeom>
          <a:noFill/>
          <a:ln>
            <a:solidFill>
              <a:srgbClr val="E98521"/>
            </a:solidFill>
          </a:ln>
        </p:spPr>
        <p:txBody>
          <a:bodyPr wrap="square" rtlCol="0" anchor="ctr">
            <a:spAutoFit/>
          </a:bodyPr>
          <a:lstStyle/>
          <a:p>
            <a:pPr lvl="0" algn="ctr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en-US" sz="4000" b="1" spc="300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</a:rPr>
              <a:t>Model building:-</a:t>
            </a:r>
            <a:endParaRPr lang="en-IN" sz="2800" b="1" spc="30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mic Sans MS" panose="030F0702030302020204" pitchFamily="66" charset="0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2470538"/>
              </p:ext>
            </p:extLst>
          </p:nvPr>
        </p:nvGraphicFramePr>
        <p:xfrm>
          <a:off x="507095" y="1205271"/>
          <a:ext cx="4809622" cy="2511612"/>
        </p:xfrm>
        <a:graphic>
          <a:graphicData uri="http://schemas.openxmlformats.org/drawingml/2006/table">
            <a:tbl>
              <a:tblPr firstRow="1" firstCol="1" bandRow="1">
                <a:tableStyleId>{21E4AEA4-8DFA-4A89-87EB-49C32662AFE0}</a:tableStyleId>
              </a:tblPr>
              <a:tblGrid>
                <a:gridCol w="254318">
                  <a:extLst>
                    <a:ext uri="{9D8B030D-6E8A-4147-A177-3AD203B41FA5}">
                      <a16:colId xmlns:a16="http://schemas.microsoft.com/office/drawing/2014/main" val="2803835119"/>
                    </a:ext>
                  </a:extLst>
                </a:gridCol>
                <a:gridCol w="1601499">
                  <a:extLst>
                    <a:ext uri="{9D8B030D-6E8A-4147-A177-3AD203B41FA5}">
                      <a16:colId xmlns:a16="http://schemas.microsoft.com/office/drawing/2014/main" val="3479928014"/>
                    </a:ext>
                  </a:extLst>
                </a:gridCol>
                <a:gridCol w="753986">
                  <a:extLst>
                    <a:ext uri="{9D8B030D-6E8A-4147-A177-3AD203B41FA5}">
                      <a16:colId xmlns:a16="http://schemas.microsoft.com/office/drawing/2014/main" val="3709295726"/>
                    </a:ext>
                  </a:extLst>
                </a:gridCol>
                <a:gridCol w="830858">
                  <a:extLst>
                    <a:ext uri="{9D8B030D-6E8A-4147-A177-3AD203B41FA5}">
                      <a16:colId xmlns:a16="http://schemas.microsoft.com/office/drawing/2014/main" val="2700937628"/>
                    </a:ext>
                  </a:extLst>
                </a:gridCol>
                <a:gridCol w="600242">
                  <a:extLst>
                    <a:ext uri="{9D8B030D-6E8A-4147-A177-3AD203B41FA5}">
                      <a16:colId xmlns:a16="http://schemas.microsoft.com/office/drawing/2014/main" val="3625114901"/>
                    </a:ext>
                  </a:extLst>
                </a:gridCol>
                <a:gridCol w="768719">
                  <a:extLst>
                    <a:ext uri="{9D8B030D-6E8A-4147-A177-3AD203B41FA5}">
                      <a16:colId xmlns:a16="http://schemas.microsoft.com/office/drawing/2014/main" val="1526173041"/>
                    </a:ext>
                  </a:extLst>
                </a:gridCol>
              </a:tblGrid>
              <a:tr h="418602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10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</a:rPr>
                        <a:t> </a:t>
                      </a:r>
                      <a:endParaRPr lang="en-IN" sz="1100" dirty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00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</a:rPr>
                        <a:t>Model</a:t>
                      </a:r>
                      <a:endParaRPr lang="en-IN" sz="1100" dirty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00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</a:rPr>
                        <a:t>Accuracy</a:t>
                      </a:r>
                      <a:endParaRPr lang="en-IN" sz="1100" dirty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00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</a:rPr>
                        <a:t>Precision</a:t>
                      </a:r>
                      <a:endParaRPr lang="en-IN" sz="1100" dirty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00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</a:rPr>
                        <a:t>Recall</a:t>
                      </a:r>
                      <a:endParaRPr lang="en-IN" sz="1100" dirty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00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</a:rPr>
                        <a:t>F1 Score</a:t>
                      </a:r>
                      <a:endParaRPr lang="en-IN" sz="1100" dirty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63333939"/>
                  </a:ext>
                </a:extLst>
              </a:tr>
              <a:tr h="418602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10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</a:rPr>
                        <a:t>0</a:t>
                      </a:r>
                      <a:endParaRPr lang="en-IN" sz="1100" dirty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00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</a:rPr>
                        <a:t>Logistic Regression      </a:t>
                      </a:r>
                      <a:endParaRPr lang="en-IN" sz="1100" dirty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10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</a:rPr>
                        <a:t>0.75</a:t>
                      </a:r>
                      <a:endParaRPr lang="en-IN" sz="1100" dirty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10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</a:rPr>
                        <a:t>0.76</a:t>
                      </a:r>
                      <a:endParaRPr lang="en-IN" sz="1100" dirty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10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</a:rPr>
                        <a:t>0.75</a:t>
                      </a:r>
                      <a:endParaRPr lang="en-IN" sz="1100" dirty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10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</a:rPr>
                        <a:t>0.75</a:t>
                      </a:r>
                      <a:endParaRPr lang="en-IN" sz="1100" dirty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727477676"/>
                  </a:ext>
                </a:extLst>
              </a:tr>
              <a:tr h="418602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10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</a:rPr>
                        <a:t>1</a:t>
                      </a:r>
                      <a:endParaRPr lang="en-IN" sz="1100" dirty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00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</a:rPr>
                        <a:t>Decision Tree</a:t>
                      </a:r>
                      <a:endParaRPr lang="en-IN" sz="1100" dirty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10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</a:rPr>
                        <a:t>0.74</a:t>
                      </a: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10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</a:rPr>
                        <a:t> </a:t>
                      </a:r>
                      <a:endParaRPr lang="en-IN" sz="1100" dirty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10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</a:rPr>
                        <a:t>0.74</a:t>
                      </a:r>
                      <a:endParaRPr lang="en-IN" sz="1100" dirty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10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</a:rPr>
                        <a:t>0.78</a:t>
                      </a:r>
                      <a:endParaRPr lang="en-IN" sz="1100" dirty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10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</a:rPr>
                        <a:t>0.76</a:t>
                      </a:r>
                      <a:endParaRPr lang="en-IN" sz="1100" dirty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403072973"/>
                  </a:ext>
                </a:extLst>
              </a:tr>
              <a:tr h="418602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10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</a:rPr>
                        <a:t>2</a:t>
                      </a:r>
                      <a:endParaRPr lang="en-IN" sz="1100" dirty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00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</a:rPr>
                        <a:t>Random Forest      </a:t>
                      </a:r>
                      <a:endParaRPr lang="en-IN" sz="1100" dirty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10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</a:rPr>
                        <a:t>0.74</a:t>
                      </a:r>
                      <a:endParaRPr lang="en-IN" sz="1100" dirty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10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</a:rPr>
                        <a:t>0.75</a:t>
                      </a:r>
                      <a:endParaRPr lang="en-IN" sz="1100" dirty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10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</a:rPr>
                        <a:t>0.75</a:t>
                      </a:r>
                      <a:endParaRPr lang="en-IN" sz="1100" dirty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10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</a:rPr>
                        <a:t>0.75</a:t>
                      </a:r>
                      <a:endParaRPr lang="en-IN" sz="1100" dirty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355743880"/>
                  </a:ext>
                </a:extLst>
              </a:tr>
              <a:tr h="418602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10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</a:rPr>
                        <a:t>3</a:t>
                      </a:r>
                      <a:endParaRPr lang="en-IN" sz="1100" dirty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00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</a:rPr>
                        <a:t>Gradient Boosting      </a:t>
                      </a:r>
                      <a:endParaRPr lang="en-IN" sz="1100" dirty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10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</a:rPr>
                        <a:t>0.75</a:t>
                      </a:r>
                      <a:endParaRPr lang="en-IN" sz="1100" dirty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10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</a:rPr>
                        <a:t>0.75</a:t>
                      </a:r>
                      <a:endParaRPr lang="en-IN" sz="1100" dirty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10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</a:rPr>
                        <a:t>0.77</a:t>
                      </a:r>
                      <a:endParaRPr lang="en-IN" sz="1100" dirty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10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</a:rPr>
                        <a:t>0.76</a:t>
                      </a:r>
                      <a:endParaRPr lang="en-IN" sz="1100" dirty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125203364"/>
                  </a:ext>
                </a:extLst>
              </a:tr>
              <a:tr h="418602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10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</a:rPr>
                        <a:t>4</a:t>
                      </a:r>
                      <a:endParaRPr lang="en-IN" sz="1100" dirty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00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</a:rPr>
                        <a:t>SVM</a:t>
                      </a:r>
                      <a:endParaRPr lang="en-IN" sz="1100" dirty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10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</a:rPr>
                        <a:t>0.75</a:t>
                      </a:r>
                      <a:endParaRPr lang="en-IN" sz="1100" dirty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10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</a:rPr>
                        <a:t>0.75</a:t>
                      </a:r>
                      <a:endParaRPr lang="en-IN" sz="1100" dirty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10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</a:rPr>
                        <a:t>0.77</a:t>
                      </a:r>
                      <a:endParaRPr lang="en-IN" sz="1100" dirty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10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</a:rPr>
                        <a:t>0.76</a:t>
                      </a:r>
                      <a:endParaRPr lang="en-IN" sz="1100" dirty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33974731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39267" y="1205271"/>
            <a:ext cx="5914533" cy="2553891"/>
          </a:xfrm>
          <a:prstGeom prst="flowChartAlternateProcess">
            <a:avLst/>
          </a:prstGeom>
          <a:noFill/>
          <a:ln>
            <a:solidFill>
              <a:srgbClr val="E98521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smtClean="0">
                <a:solidFill>
                  <a:schemeClr val="bg1"/>
                </a:solidFill>
                <a:latin typeface="Comic Sans MS" panose="030F0702030302020204" pitchFamily="66" charset="0"/>
              </a:rPr>
              <a:t>All models show similar accuracy (0.74–0.75)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bg1"/>
                </a:solidFill>
                <a:latin typeface="Comic Sans MS" panose="030F0702030302020204" pitchFamily="66" charset="0"/>
              </a:rPr>
              <a:t>Gradient Boosting &amp; SVM show slightly higher F1 Score (0.76</a:t>
            </a:r>
            <a:r>
              <a:rPr lang="en-US" dirty="0" smtClean="0">
                <a:solidFill>
                  <a:schemeClr val="bg1"/>
                </a:solidFill>
                <a:latin typeface="Comic Sans MS" panose="030F0702030302020204" pitchFamily="66" charset="0"/>
              </a:rPr>
              <a:t>)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bg1"/>
                </a:solidFill>
                <a:latin typeface="Comic Sans MS" panose="030F0702030302020204" pitchFamily="66" charset="0"/>
              </a:rPr>
              <a:t>Decision Tree achieves highest recall (0.78</a:t>
            </a:r>
            <a:r>
              <a:rPr lang="en-US" dirty="0" smtClean="0">
                <a:solidFill>
                  <a:schemeClr val="bg1"/>
                </a:solidFill>
                <a:latin typeface="Comic Sans MS" panose="030F0702030302020204" pitchFamily="66" charset="0"/>
              </a:rPr>
              <a:t>)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bg1"/>
                </a:solidFill>
                <a:latin typeface="Comic Sans MS" panose="030F0702030302020204" pitchFamily="66" charset="0"/>
              </a:rPr>
              <a:t>Random Forest performs consistently but not </a:t>
            </a:r>
            <a:r>
              <a:rPr lang="en-US" dirty="0" smtClean="0">
                <a:solidFill>
                  <a:schemeClr val="bg1"/>
                </a:solidFill>
                <a:latin typeface="Comic Sans MS" panose="030F0702030302020204" pitchFamily="66" charset="0"/>
              </a:rPr>
              <a:t>superior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bg1"/>
                </a:solidFill>
                <a:latin typeface="Comic Sans MS" panose="030F0702030302020204" pitchFamily="66" charset="0"/>
              </a:rPr>
              <a:t>No model significantly outperforms </a:t>
            </a:r>
            <a:r>
              <a:rPr lang="en-US" dirty="0" smtClean="0">
                <a:solidFill>
                  <a:schemeClr val="bg1"/>
                </a:solidFill>
                <a:latin typeface="Comic Sans MS" panose="030F0702030302020204" pitchFamily="66" charset="0"/>
              </a:rPr>
              <a:t>others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bg1"/>
                </a:solidFill>
                <a:latin typeface="Comic Sans MS" panose="030F0702030302020204" pitchFamily="66" charset="0"/>
              </a:rPr>
              <a:t>Final Model Selected: </a:t>
            </a:r>
            <a:r>
              <a:rPr lang="en-US" b="1" u="sng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Logistic Regression</a:t>
            </a:r>
            <a:endParaRPr lang="en-IN" b="1" u="sng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mic Sans MS" panose="030F0702030302020204" pitchFamily="66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7095" y="3935233"/>
            <a:ext cx="10846706" cy="2860358"/>
          </a:xfrm>
          <a:prstGeom prst="flowChartAlternateProcess">
            <a:avLst/>
          </a:prstGeom>
          <a:noFill/>
          <a:ln>
            <a:solidFill>
              <a:srgbClr val="E98521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bg1"/>
                </a:solidFill>
                <a:latin typeface="Comic Sans MS" panose="030F0702030302020204" pitchFamily="66" charset="0"/>
              </a:rPr>
              <a:t>Performance comparable to all advanced </a:t>
            </a:r>
            <a:r>
              <a:rPr lang="en-US" dirty="0" smtClean="0">
                <a:solidFill>
                  <a:schemeClr val="bg1"/>
                </a:solidFill>
                <a:latin typeface="Comic Sans MS" panose="030F0702030302020204" pitchFamily="66" charset="0"/>
              </a:rPr>
              <a:t>models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dirty="0">
                <a:solidFill>
                  <a:schemeClr val="bg1"/>
                </a:solidFill>
                <a:latin typeface="Comic Sans MS" panose="030F0702030302020204" pitchFamily="66" charset="0"/>
              </a:rPr>
              <a:t>Balanced precision and </a:t>
            </a:r>
            <a:r>
              <a:rPr lang="en-IN" dirty="0" smtClean="0">
                <a:solidFill>
                  <a:schemeClr val="bg1"/>
                </a:solidFill>
                <a:latin typeface="Comic Sans MS" panose="030F0702030302020204" pitchFamily="66" charset="0"/>
              </a:rPr>
              <a:t>recall; </a:t>
            </a:r>
            <a:r>
              <a:rPr lang="en-US" dirty="0">
                <a:solidFill>
                  <a:schemeClr val="bg1"/>
                </a:solidFill>
                <a:latin typeface="Comic Sans MS" panose="030F0702030302020204" pitchFamily="66" charset="0"/>
              </a:rPr>
              <a:t>High interpretability (critical for healthcare</a:t>
            </a:r>
            <a:r>
              <a:rPr lang="en-US" dirty="0" smtClean="0">
                <a:solidFill>
                  <a:schemeClr val="bg1"/>
                </a:solidFill>
                <a:latin typeface="Comic Sans MS" panose="030F0702030302020204" pitchFamily="66" charset="0"/>
              </a:rPr>
              <a:t>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bg1"/>
                </a:solidFill>
                <a:latin typeface="Comic Sans MS" panose="030F0702030302020204" pitchFamily="66" charset="0"/>
              </a:rPr>
              <a:t>Low complexity and faster </a:t>
            </a:r>
            <a:r>
              <a:rPr lang="en-US" dirty="0" smtClean="0">
                <a:solidFill>
                  <a:schemeClr val="bg1"/>
                </a:solidFill>
                <a:latin typeface="Comic Sans MS" panose="030F0702030302020204" pitchFamily="66" charset="0"/>
              </a:rPr>
              <a:t>execution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bg1"/>
                </a:solidFill>
                <a:latin typeface="Comic Sans MS" panose="030F0702030302020204" pitchFamily="66" charset="0"/>
              </a:rPr>
              <a:t>Model choice is supported by validation techniques; Since all models performed similarly, Logistic Regression was selected due to its stability, interpretability, and validated performance through cross-validation and ROC-AUC analysis.</a:t>
            </a:r>
            <a:endParaRPr lang="en-US" dirty="0" smtClean="0">
              <a:solidFill>
                <a:schemeClr val="bg1"/>
              </a:solidFill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59285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  <a14:imgEffect>
                      <a14:sharpenSoften amount="-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233"/>
            <a:ext cx="12192000" cy="6858000"/>
          </a:xfrm>
          <a:prstGeom prst="rect">
            <a:avLst/>
          </a:prstGeom>
        </p:spPr>
      </p:pic>
      <p:sp>
        <p:nvSpPr>
          <p:cNvPr id="4" name="Title 6"/>
          <p:cNvSpPr txBox="1">
            <a:spLocks noGrp="1"/>
          </p:cNvSpPr>
          <p:nvPr>
            <p:ph type="title"/>
          </p:nvPr>
        </p:nvSpPr>
        <p:spPr>
          <a:xfrm>
            <a:off x="838200" y="271185"/>
            <a:ext cx="10515600" cy="783193"/>
          </a:xfrm>
          <a:prstGeom prst="roundRect">
            <a:avLst/>
          </a:prstGeom>
          <a:noFill/>
          <a:ln>
            <a:solidFill>
              <a:srgbClr val="E98521"/>
            </a:solidFill>
          </a:ln>
        </p:spPr>
        <p:txBody>
          <a:bodyPr wrap="square" rtlCol="0" anchor="ctr">
            <a:spAutoFit/>
          </a:bodyPr>
          <a:lstStyle/>
          <a:p>
            <a:pPr lvl="0" algn="ctr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en-US" sz="4000" b="1" spc="300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</a:rPr>
              <a:t>Model deployment:-</a:t>
            </a:r>
            <a:endParaRPr lang="en-IN" sz="2800" b="1" spc="30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mic Sans MS" panose="030F0702030302020204" pitchFamily="66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38200" y="1146454"/>
            <a:ext cx="5147821" cy="3227584"/>
          </a:xfrm>
          <a:prstGeom prst="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rgbClr val="E985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5979" y="1146454"/>
            <a:ext cx="5147821" cy="3205828"/>
          </a:xfrm>
          <a:prstGeom prst="rect">
            <a:avLst/>
          </a:prstGeom>
          <a:ln>
            <a:solidFill>
              <a:srgbClr val="E98521"/>
            </a:solidFill>
          </a:ln>
        </p:spPr>
      </p:pic>
      <p:sp>
        <p:nvSpPr>
          <p:cNvPr id="14" name="Title 6"/>
          <p:cNvSpPr txBox="1">
            <a:spLocks/>
          </p:cNvSpPr>
          <p:nvPr/>
        </p:nvSpPr>
        <p:spPr>
          <a:xfrm>
            <a:off x="838200" y="4432847"/>
            <a:ext cx="10515600" cy="2400657"/>
          </a:xfrm>
          <a:prstGeom prst="roundRect">
            <a:avLst/>
          </a:prstGeom>
          <a:noFill/>
          <a:ln>
            <a:solidFill>
              <a:srgbClr val="E98521"/>
            </a:solidFill>
          </a:ln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 eaLnBrk="0" fontAlgn="base" hangingPunct="0">
              <a:lnSpc>
                <a:spcPct val="150000"/>
              </a:lnSpc>
              <a:spcAft>
                <a:spcPct val="0"/>
              </a:spcAft>
              <a:buClr>
                <a:schemeClr val="bg1"/>
              </a:buClr>
              <a:buFont typeface="Wingdings" panose="05000000000000000000" pitchFamily="2" charset="2"/>
              <a:buChar char="q"/>
            </a:pPr>
            <a:r>
              <a:rPr lang="en-US" sz="1800" dirty="0">
                <a:solidFill>
                  <a:schemeClr val="bg1"/>
                </a:solidFill>
                <a:latin typeface="Comic Sans MS" panose="030F0702030302020204" pitchFamily="66" charset="0"/>
              </a:rPr>
              <a:t>Finalized Logistic Regression model was saved for </a:t>
            </a:r>
            <a:r>
              <a:rPr lang="en-US" sz="1800" dirty="0" smtClean="0">
                <a:solidFill>
                  <a:schemeClr val="bg1"/>
                </a:solidFill>
                <a:latin typeface="Comic Sans MS" panose="030F0702030302020204" pitchFamily="66" charset="0"/>
              </a:rPr>
              <a:t>deployment</a:t>
            </a:r>
          </a:p>
          <a:p>
            <a:pPr marL="285750" indent="-285750" eaLnBrk="0" fontAlgn="base" hangingPunct="0">
              <a:lnSpc>
                <a:spcPct val="150000"/>
              </a:lnSpc>
              <a:spcAft>
                <a:spcPct val="0"/>
              </a:spcAft>
              <a:buClr>
                <a:schemeClr val="bg1"/>
              </a:buClr>
              <a:buFont typeface="Wingdings" panose="05000000000000000000" pitchFamily="2" charset="2"/>
              <a:buChar char="q"/>
            </a:pPr>
            <a:r>
              <a:rPr lang="en-US" sz="1800" dirty="0">
                <a:solidFill>
                  <a:schemeClr val="bg1"/>
                </a:solidFill>
                <a:latin typeface="Comic Sans MS" panose="030F0702030302020204" pitchFamily="66" charset="0"/>
              </a:rPr>
              <a:t>Data preprocessing steps were retained for </a:t>
            </a:r>
            <a:r>
              <a:rPr lang="en-US" sz="1800" dirty="0" smtClean="0">
                <a:solidFill>
                  <a:schemeClr val="bg1"/>
                </a:solidFill>
                <a:latin typeface="Comic Sans MS" panose="030F0702030302020204" pitchFamily="66" charset="0"/>
              </a:rPr>
              <a:t>consistency</a:t>
            </a:r>
          </a:p>
          <a:p>
            <a:pPr marL="285750" indent="-285750" eaLnBrk="0" fontAlgn="base" hangingPunct="0">
              <a:lnSpc>
                <a:spcPct val="150000"/>
              </a:lnSpc>
              <a:spcAft>
                <a:spcPct val="0"/>
              </a:spcAft>
              <a:buClr>
                <a:schemeClr val="bg1"/>
              </a:buClr>
              <a:buFont typeface="Wingdings" panose="05000000000000000000" pitchFamily="2" charset="2"/>
              <a:buChar char="q"/>
            </a:pPr>
            <a:r>
              <a:rPr lang="en-US" sz="1800" dirty="0">
                <a:solidFill>
                  <a:schemeClr val="bg1"/>
                </a:solidFill>
                <a:latin typeface="Comic Sans MS" panose="030F0702030302020204" pitchFamily="66" charset="0"/>
              </a:rPr>
              <a:t>An interactive </a:t>
            </a:r>
            <a:r>
              <a:rPr lang="en-US" sz="1800" b="1" dirty="0">
                <a:solidFill>
                  <a:srgbClr val="E98521"/>
                </a:solidFill>
                <a:latin typeface="Comic Sans MS" panose="030F0702030302020204" pitchFamily="66" charset="0"/>
              </a:rPr>
              <a:t>Streamlit</a:t>
            </a:r>
            <a:r>
              <a:rPr lang="en-US" sz="1800" dirty="0">
                <a:solidFill>
                  <a:schemeClr val="bg1"/>
                </a:solidFill>
                <a:latin typeface="Comic Sans MS" panose="030F0702030302020204" pitchFamily="66" charset="0"/>
              </a:rPr>
              <a:t> application was </a:t>
            </a:r>
            <a:r>
              <a:rPr lang="en-US" sz="1800" dirty="0" smtClean="0">
                <a:solidFill>
                  <a:schemeClr val="bg1"/>
                </a:solidFill>
                <a:latin typeface="Comic Sans MS" panose="030F0702030302020204" pitchFamily="66" charset="0"/>
              </a:rPr>
              <a:t>developed</a:t>
            </a:r>
          </a:p>
          <a:p>
            <a:pPr marL="285750" indent="-285750" eaLnBrk="0" fontAlgn="base" hangingPunct="0">
              <a:lnSpc>
                <a:spcPct val="150000"/>
              </a:lnSpc>
              <a:spcAft>
                <a:spcPct val="0"/>
              </a:spcAft>
              <a:buClr>
                <a:schemeClr val="bg1"/>
              </a:buClr>
              <a:buFont typeface="Wingdings" panose="05000000000000000000" pitchFamily="2" charset="2"/>
              <a:buChar char="q"/>
            </a:pPr>
            <a:r>
              <a:rPr lang="en-US" sz="1800" dirty="0">
                <a:solidFill>
                  <a:schemeClr val="bg1"/>
                </a:solidFill>
                <a:latin typeface="Comic Sans MS" panose="030F0702030302020204" pitchFamily="66" charset="0"/>
              </a:rPr>
              <a:t>Input data is processed, scaled, and passed through the model to generate </a:t>
            </a:r>
            <a:r>
              <a:rPr lang="en-US" sz="1800" dirty="0" smtClean="0">
                <a:solidFill>
                  <a:schemeClr val="bg1"/>
                </a:solidFill>
                <a:latin typeface="Comic Sans MS" panose="030F0702030302020204" pitchFamily="66" charset="0"/>
              </a:rPr>
              <a:t>results</a:t>
            </a:r>
          </a:p>
          <a:p>
            <a:pPr marL="285750" indent="-285750" eaLnBrk="0" fontAlgn="base" hangingPunct="0">
              <a:lnSpc>
                <a:spcPct val="150000"/>
              </a:lnSpc>
              <a:spcAft>
                <a:spcPct val="0"/>
              </a:spcAft>
              <a:buClr>
                <a:schemeClr val="bg1"/>
              </a:buClr>
              <a:buFont typeface="Wingdings" panose="05000000000000000000" pitchFamily="2" charset="2"/>
              <a:buChar char="q"/>
            </a:pPr>
            <a:r>
              <a:rPr lang="en-US" sz="1800" dirty="0">
                <a:solidFill>
                  <a:schemeClr val="bg1"/>
                </a:solidFill>
                <a:latin typeface="Comic Sans MS" panose="030F0702030302020204" pitchFamily="66" charset="0"/>
              </a:rPr>
              <a:t>Prediction output includes both classification and probability</a:t>
            </a:r>
            <a:endParaRPr lang="en-IN" sz="1800" b="1" spc="300" dirty="0">
              <a:ln w="22225">
                <a:solidFill>
                  <a:schemeClr val="accent2"/>
                </a:solidFill>
                <a:prstDash val="solid"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98162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  <a14:imgEffect>
                      <a14:sharpenSoften amount="-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itle 6"/>
          <p:cNvSpPr txBox="1">
            <a:spLocks noGrp="1"/>
          </p:cNvSpPr>
          <p:nvPr>
            <p:ph type="title"/>
          </p:nvPr>
        </p:nvSpPr>
        <p:spPr>
          <a:xfrm>
            <a:off x="838200" y="271185"/>
            <a:ext cx="10515600" cy="783193"/>
          </a:xfrm>
          <a:prstGeom prst="roundRect">
            <a:avLst/>
          </a:prstGeom>
          <a:noFill/>
          <a:ln>
            <a:solidFill>
              <a:srgbClr val="E98521"/>
            </a:solidFill>
          </a:ln>
        </p:spPr>
        <p:txBody>
          <a:bodyPr wrap="square" rtlCol="0" anchor="ctr">
            <a:spAutoFit/>
          </a:bodyPr>
          <a:lstStyle/>
          <a:p>
            <a:pPr lvl="0" algn="ctr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en-US" sz="4000" b="1" spc="300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</a:rPr>
              <a:t>interpretation:-</a:t>
            </a:r>
            <a:endParaRPr lang="en-IN" sz="2800" b="1" spc="30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mic Sans MS" panose="030F0702030302020204" pitchFamily="66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838200" y="1414021"/>
            <a:ext cx="10445685" cy="3621133"/>
          </a:xfrm>
          <a:prstGeom prst="flowChartAlternateProcess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000" dirty="0">
                <a:solidFill>
                  <a:schemeClr val="bg1"/>
                </a:solidFill>
                <a:latin typeface="Comic Sans MS" panose="030F0702030302020204" pitchFamily="66" charset="0"/>
              </a:rPr>
              <a:t>Built a complete machine learning solution from data analysis to </a:t>
            </a:r>
            <a:r>
              <a:rPr lang="en-IN" sz="2000" dirty="0" smtClean="0">
                <a:solidFill>
                  <a:schemeClr val="bg1"/>
                </a:solidFill>
                <a:latin typeface="Comic Sans MS" panose="030F0702030302020204" pitchFamily="66" charset="0"/>
              </a:rPr>
              <a:t>deployment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000" dirty="0">
                <a:solidFill>
                  <a:schemeClr val="bg1"/>
                </a:solidFill>
                <a:latin typeface="Comic Sans MS" panose="030F0702030302020204" pitchFamily="66" charset="0"/>
              </a:rPr>
              <a:t>Data analysis showed that no single factor alone can predict the </a:t>
            </a:r>
            <a:r>
              <a:rPr lang="en-IN" sz="2000" dirty="0" smtClean="0">
                <a:solidFill>
                  <a:schemeClr val="bg1"/>
                </a:solidFill>
                <a:latin typeface="Comic Sans MS" panose="030F0702030302020204" pitchFamily="66" charset="0"/>
              </a:rPr>
              <a:t>disease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000" dirty="0">
                <a:solidFill>
                  <a:schemeClr val="bg1"/>
                </a:solidFill>
                <a:latin typeface="Comic Sans MS" panose="030F0702030302020204" pitchFamily="66" charset="0"/>
              </a:rPr>
              <a:t>All models performed similarly, with around 75% </a:t>
            </a:r>
            <a:r>
              <a:rPr lang="en-IN" sz="2000" dirty="0" smtClean="0">
                <a:solidFill>
                  <a:schemeClr val="bg1"/>
                </a:solidFill>
                <a:latin typeface="Comic Sans MS" panose="030F0702030302020204" pitchFamily="66" charset="0"/>
              </a:rPr>
              <a:t>accuracy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000" dirty="0">
                <a:solidFill>
                  <a:schemeClr val="bg1"/>
                </a:solidFill>
                <a:latin typeface="Comic Sans MS" panose="030F0702030302020204" pitchFamily="66" charset="0"/>
              </a:rPr>
              <a:t>Logistic Regression was chosen for its simplicity and </a:t>
            </a:r>
            <a:r>
              <a:rPr lang="en-IN" sz="2000" dirty="0" smtClean="0">
                <a:solidFill>
                  <a:schemeClr val="bg1"/>
                </a:solidFill>
                <a:latin typeface="Comic Sans MS" panose="030F0702030302020204" pitchFamily="66" charset="0"/>
              </a:rPr>
              <a:t>clarity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000" dirty="0">
                <a:solidFill>
                  <a:schemeClr val="bg1"/>
                </a:solidFill>
                <a:latin typeface="Comic Sans MS" panose="030F0702030302020204" pitchFamily="66" charset="0"/>
              </a:rPr>
              <a:t>Model performance was validated to ensure consistency and </a:t>
            </a:r>
            <a:r>
              <a:rPr lang="en-IN" sz="2000" dirty="0" smtClean="0">
                <a:solidFill>
                  <a:schemeClr val="bg1"/>
                </a:solidFill>
                <a:latin typeface="Comic Sans MS" panose="030F0702030302020204" pitchFamily="66" charset="0"/>
              </a:rPr>
              <a:t>reliability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000" dirty="0">
                <a:solidFill>
                  <a:schemeClr val="bg1"/>
                </a:solidFill>
                <a:latin typeface="Comic Sans MS" panose="030F0702030302020204" pitchFamily="66" charset="0"/>
              </a:rPr>
              <a:t>The model was successfully turned into a user-friendly Streamlit </a:t>
            </a:r>
            <a:r>
              <a:rPr lang="en-IN" sz="2000" dirty="0" smtClean="0">
                <a:solidFill>
                  <a:schemeClr val="bg1"/>
                </a:solidFill>
                <a:latin typeface="Comic Sans MS" panose="030F0702030302020204" pitchFamily="66" charset="0"/>
              </a:rPr>
              <a:t>app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000" dirty="0">
                <a:solidFill>
                  <a:schemeClr val="bg1"/>
                </a:solidFill>
                <a:latin typeface="Comic Sans MS" panose="030F0702030302020204" pitchFamily="66" charset="0"/>
              </a:rPr>
              <a:t>The output includes both prediction and confidence level</a:t>
            </a:r>
            <a:endParaRPr lang="en-IN" sz="2000" dirty="0" smtClean="0">
              <a:solidFill>
                <a:schemeClr val="bg1"/>
              </a:solidFill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20962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  <a14:imgEffect>
                      <a14:sharpenSoften amount="-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839788" y="229435"/>
            <a:ext cx="5157787" cy="823912"/>
          </a:xfrm>
          <a:prstGeom prst="flowChartAlternateProcess">
            <a:avLst/>
          </a:prstGeom>
          <a:ln>
            <a:solidFill>
              <a:srgbClr val="E98521"/>
            </a:solidFill>
          </a:ln>
        </p:spPr>
        <p:txBody>
          <a:bodyPr anchor="ctr">
            <a:normAutofit/>
          </a:bodyPr>
          <a:lstStyle/>
          <a:p>
            <a:r>
              <a:rPr lang="en-US" sz="2800" spc="3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</a:rPr>
              <a:t>Business impact:-</a:t>
            </a:r>
            <a:endParaRPr lang="en-IN" sz="2800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>
          <a:xfrm>
            <a:off x="839788" y="1206631"/>
            <a:ext cx="5157787" cy="4983032"/>
          </a:xfrm>
          <a:prstGeom prst="flowChartAlternateProcess">
            <a:avLst/>
          </a:prstGeom>
          <a:ln>
            <a:solidFill>
              <a:srgbClr val="E98521"/>
            </a:solidFill>
          </a:ln>
        </p:spPr>
        <p:txBody>
          <a:bodyPr>
            <a:norm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2000" dirty="0">
                <a:solidFill>
                  <a:schemeClr val="bg1"/>
                </a:solidFill>
                <a:latin typeface="Comic Sans MS" panose="030F0702030302020204" pitchFamily="66" charset="0"/>
              </a:rPr>
              <a:t>Enables early detection of diabetic retinopathy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2000" dirty="0">
                <a:solidFill>
                  <a:schemeClr val="bg1"/>
                </a:solidFill>
                <a:latin typeface="Comic Sans MS" panose="030F0702030302020204" pitchFamily="66" charset="0"/>
              </a:rPr>
              <a:t>Supports doctors with quick decision-making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2000" dirty="0">
                <a:solidFill>
                  <a:schemeClr val="bg1"/>
                </a:solidFill>
                <a:latin typeface="Comic Sans MS" panose="030F0702030302020204" pitchFamily="66" charset="0"/>
              </a:rPr>
              <a:t>Reduces screening costs and effort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2000" dirty="0">
                <a:solidFill>
                  <a:schemeClr val="bg1"/>
                </a:solidFill>
                <a:latin typeface="Comic Sans MS" panose="030F0702030302020204" pitchFamily="66" charset="0"/>
              </a:rPr>
              <a:t>Scalable and easy to deploy solution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2000" dirty="0">
                <a:solidFill>
                  <a:schemeClr val="bg1"/>
                </a:solidFill>
                <a:latin typeface="Comic Sans MS" panose="030F0702030302020204" pitchFamily="66" charset="0"/>
              </a:rPr>
              <a:t>Improves accessibility to healthcare insights</a:t>
            </a:r>
            <a:endParaRPr lang="en-IN" sz="2000" dirty="0">
              <a:ln>
                <a:solidFill>
                  <a:schemeClr val="bg1"/>
                </a:solidFill>
              </a:ln>
              <a:solidFill>
                <a:schemeClr val="bg1"/>
              </a:solidFill>
              <a:latin typeface="Comic Sans MS" panose="030F0702030302020204" pitchFamily="66" charset="0"/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3"/>
          </p:nvPr>
        </p:nvSpPr>
        <p:spPr>
          <a:xfrm>
            <a:off x="6172200" y="229435"/>
            <a:ext cx="5183188" cy="823912"/>
          </a:xfrm>
          <a:prstGeom prst="flowChartAlternateProcess">
            <a:avLst/>
          </a:prstGeom>
          <a:ln>
            <a:solidFill>
              <a:srgbClr val="E98521"/>
            </a:solidFill>
          </a:ln>
        </p:spPr>
        <p:txBody>
          <a:bodyPr anchor="ctr">
            <a:normAutofit/>
          </a:bodyPr>
          <a:lstStyle/>
          <a:p>
            <a:r>
              <a:rPr lang="en-US" sz="2800" spc="3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</a:rPr>
              <a:t>Future scope:-</a:t>
            </a:r>
            <a:endParaRPr lang="en-IN" sz="2800" spc="30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lgerian" panose="04020705040A02060702" pitchFamily="82" charset="0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sz="quarter" idx="4"/>
          </p:nvPr>
        </p:nvSpPr>
        <p:spPr>
          <a:xfrm>
            <a:off x="6172200" y="1282782"/>
            <a:ext cx="5183188" cy="4906881"/>
          </a:xfrm>
          <a:prstGeom prst="flowChartAlternateProcess">
            <a:avLst/>
          </a:prstGeom>
          <a:ln>
            <a:solidFill>
              <a:srgbClr val="E98521"/>
            </a:solidFill>
          </a:ln>
        </p:spPr>
        <p:txBody>
          <a:bodyPr>
            <a:normAutofit/>
          </a:bodyPr>
          <a:lstStyle/>
          <a:p>
            <a:pPr>
              <a:buClr>
                <a:schemeClr val="bg1"/>
              </a:buClr>
              <a:buFont typeface="Wingdings" panose="05000000000000000000" pitchFamily="2" charset="2"/>
              <a:buChar char="q"/>
            </a:pPr>
            <a:r>
              <a:rPr lang="en-IN" sz="2000" dirty="0">
                <a:solidFill>
                  <a:schemeClr val="bg1"/>
                </a:solidFill>
                <a:latin typeface="Comic Sans MS" panose="030F0702030302020204" pitchFamily="66" charset="0"/>
              </a:rPr>
              <a:t>Incorporate more clinical and lifestyle </a:t>
            </a:r>
            <a:r>
              <a:rPr lang="en-IN" sz="2000" dirty="0" smtClean="0">
                <a:solidFill>
                  <a:schemeClr val="bg1"/>
                </a:solidFill>
                <a:latin typeface="Comic Sans MS" panose="030F0702030302020204" pitchFamily="66" charset="0"/>
              </a:rPr>
              <a:t>features</a:t>
            </a:r>
          </a:p>
          <a:p>
            <a:pPr>
              <a:buClr>
                <a:schemeClr val="bg1"/>
              </a:buClr>
              <a:buFont typeface="Wingdings" panose="05000000000000000000" pitchFamily="2" charset="2"/>
              <a:buChar char="q"/>
            </a:pPr>
            <a:r>
              <a:rPr lang="en-IN" sz="2100" dirty="0">
                <a:solidFill>
                  <a:schemeClr val="bg1"/>
                </a:solidFill>
                <a:latin typeface="Comic Sans MS" panose="030F0702030302020204" pitchFamily="66" charset="0"/>
              </a:rPr>
              <a:t>Integrate with real medical imaging (retina scans</a:t>
            </a:r>
            <a:r>
              <a:rPr lang="en-IN" sz="2100" dirty="0">
                <a:solidFill>
                  <a:schemeClr val="bg1"/>
                </a:solidFill>
                <a:latin typeface="Comic Sans MS" panose="030F0702030302020204" pitchFamily="66" charset="0"/>
              </a:rPr>
              <a:t>)</a:t>
            </a:r>
          </a:p>
          <a:p>
            <a:pPr>
              <a:buClr>
                <a:schemeClr val="bg1"/>
              </a:buClr>
              <a:buFont typeface="Wingdings" panose="05000000000000000000" pitchFamily="2" charset="2"/>
              <a:buChar char="q"/>
            </a:pPr>
            <a:r>
              <a:rPr lang="en-IN" sz="2100" dirty="0">
                <a:solidFill>
                  <a:schemeClr val="bg1"/>
                </a:solidFill>
                <a:latin typeface="Comic Sans MS" panose="030F0702030302020204" pitchFamily="66" charset="0"/>
              </a:rPr>
              <a:t>Enhance model performance using advanced </a:t>
            </a:r>
            <a:r>
              <a:rPr lang="en-IN" sz="2100" dirty="0">
                <a:solidFill>
                  <a:schemeClr val="bg1"/>
                </a:solidFill>
                <a:latin typeface="Comic Sans MS" panose="030F0702030302020204" pitchFamily="66" charset="0"/>
              </a:rPr>
              <a:t>algorithms</a:t>
            </a:r>
          </a:p>
          <a:p>
            <a:pPr>
              <a:buClr>
                <a:schemeClr val="bg1"/>
              </a:buClr>
              <a:buFont typeface="Wingdings" panose="05000000000000000000" pitchFamily="2" charset="2"/>
              <a:buChar char="q"/>
            </a:pPr>
            <a:r>
              <a:rPr lang="en-IN" sz="2100" dirty="0">
                <a:solidFill>
                  <a:schemeClr val="bg1"/>
                </a:solidFill>
                <a:latin typeface="Comic Sans MS" panose="030F0702030302020204" pitchFamily="66" charset="0"/>
              </a:rPr>
              <a:t>Deploy as a mobile or cloud-based </a:t>
            </a:r>
            <a:r>
              <a:rPr lang="en-IN" sz="2100" dirty="0">
                <a:solidFill>
                  <a:schemeClr val="bg1"/>
                </a:solidFill>
                <a:latin typeface="Comic Sans MS" panose="030F0702030302020204" pitchFamily="66" charset="0"/>
              </a:rPr>
              <a:t>application</a:t>
            </a:r>
          </a:p>
          <a:p>
            <a:pPr>
              <a:buClr>
                <a:schemeClr val="bg1"/>
              </a:buClr>
              <a:buFont typeface="Wingdings" panose="05000000000000000000" pitchFamily="2" charset="2"/>
              <a:buChar char="q"/>
            </a:pPr>
            <a:r>
              <a:rPr lang="en-IN" sz="2100" dirty="0">
                <a:solidFill>
                  <a:schemeClr val="bg1"/>
                </a:solidFill>
                <a:latin typeface="Comic Sans MS" panose="030F0702030302020204" pitchFamily="66" charset="0"/>
              </a:rPr>
              <a:t>Clinical validation and real-world testing</a:t>
            </a:r>
            <a:br>
              <a:rPr lang="en-IN" sz="2100" dirty="0">
                <a:solidFill>
                  <a:schemeClr val="bg1"/>
                </a:solidFill>
                <a:latin typeface="Comic Sans MS" panose="030F0702030302020204" pitchFamily="66" charset="0"/>
              </a:rPr>
            </a:br>
            <a:r>
              <a:rPr lang="en-IN" sz="2100" dirty="0">
                <a:solidFill>
                  <a:schemeClr val="bg1"/>
                </a:solidFill>
                <a:latin typeface="Comic Sans MS" panose="030F0702030302020204" pitchFamily="66" charset="0"/>
              </a:rPr>
              <a:t/>
            </a:r>
            <a:br>
              <a:rPr lang="en-IN" sz="2100" dirty="0">
                <a:solidFill>
                  <a:schemeClr val="bg1"/>
                </a:solidFill>
                <a:latin typeface="Comic Sans MS" panose="030F0702030302020204" pitchFamily="66" charset="0"/>
              </a:rPr>
            </a:br>
            <a:endParaRPr lang="en-IN" sz="2100" dirty="0">
              <a:solidFill>
                <a:schemeClr val="bg1"/>
              </a:solidFill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78065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  <a14:imgEffect>
                      <a14:sharpenSoften amount="-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itle 6"/>
          <p:cNvSpPr txBox="1">
            <a:spLocks noGrp="1"/>
          </p:cNvSpPr>
          <p:nvPr>
            <p:ph type="title"/>
          </p:nvPr>
        </p:nvSpPr>
        <p:spPr>
          <a:xfrm>
            <a:off x="838200" y="271185"/>
            <a:ext cx="10515600" cy="783193"/>
          </a:xfrm>
          <a:prstGeom prst="roundRect">
            <a:avLst/>
          </a:prstGeom>
          <a:noFill/>
          <a:ln>
            <a:solidFill>
              <a:srgbClr val="E98521"/>
            </a:solidFill>
          </a:ln>
        </p:spPr>
        <p:txBody>
          <a:bodyPr wrap="square" rtlCol="0" anchor="ctr">
            <a:spAutoFit/>
          </a:bodyPr>
          <a:lstStyle/>
          <a:p>
            <a:pPr lvl="0" algn="ctr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en-US" sz="4000" b="1" spc="300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</a:rPr>
              <a:t>conclusion:-</a:t>
            </a:r>
            <a:endParaRPr lang="en-IN" sz="2800" b="1" spc="30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mic Sans MS" panose="030F0702030302020204" pitchFamily="66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38200" y="1414021"/>
            <a:ext cx="10445685" cy="3690585"/>
          </a:xfrm>
          <a:prstGeom prst="flowChartAlternateProcess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000" dirty="0">
                <a:solidFill>
                  <a:schemeClr val="bg1"/>
                </a:solidFill>
                <a:latin typeface="Comic Sans MS" panose="030F0702030302020204" pitchFamily="66" charset="0"/>
              </a:rPr>
              <a:t>The project translates data into actionable insights for healthcare </a:t>
            </a:r>
            <a:r>
              <a:rPr lang="en-IN" sz="2000" dirty="0" smtClean="0">
                <a:solidFill>
                  <a:schemeClr val="bg1"/>
                </a:solidFill>
                <a:latin typeface="Comic Sans MS" panose="030F0702030302020204" pitchFamily="66" charset="0"/>
              </a:rPr>
              <a:t>use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000" dirty="0">
                <a:solidFill>
                  <a:schemeClr val="bg1"/>
                </a:solidFill>
                <a:latin typeface="Comic Sans MS" panose="030F0702030302020204" pitchFamily="66" charset="0"/>
              </a:rPr>
              <a:t>Demonstrates how structured clinical data can support risk </a:t>
            </a:r>
            <a:r>
              <a:rPr lang="en-IN" sz="2000" dirty="0" smtClean="0">
                <a:solidFill>
                  <a:schemeClr val="bg1"/>
                </a:solidFill>
                <a:latin typeface="Comic Sans MS" panose="030F0702030302020204" pitchFamily="66" charset="0"/>
              </a:rPr>
              <a:t>assessment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000" dirty="0">
                <a:solidFill>
                  <a:schemeClr val="bg1"/>
                </a:solidFill>
                <a:latin typeface="Comic Sans MS" panose="030F0702030302020204" pitchFamily="66" charset="0"/>
              </a:rPr>
              <a:t>Creates a foundation for scalable healthcare </a:t>
            </a:r>
            <a:r>
              <a:rPr lang="en-IN" sz="2000" dirty="0" smtClean="0">
                <a:solidFill>
                  <a:schemeClr val="bg1"/>
                </a:solidFill>
                <a:latin typeface="Comic Sans MS" panose="030F0702030302020204" pitchFamily="66" charset="0"/>
              </a:rPr>
              <a:t>solutions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000" dirty="0">
                <a:solidFill>
                  <a:schemeClr val="bg1"/>
                </a:solidFill>
                <a:latin typeface="Comic Sans MS" panose="030F0702030302020204" pitchFamily="66" charset="0"/>
              </a:rPr>
              <a:t>Highlights the importance of integrating technology into everyday decision-making</a:t>
            </a:r>
            <a:br>
              <a:rPr lang="en-IN" sz="2000" dirty="0">
                <a:solidFill>
                  <a:schemeClr val="bg1"/>
                </a:solidFill>
                <a:latin typeface="Comic Sans MS" panose="030F0702030302020204" pitchFamily="66" charset="0"/>
              </a:rPr>
            </a:br>
            <a:endParaRPr lang="en-IN" sz="2000" dirty="0">
              <a:solidFill>
                <a:schemeClr val="bg1"/>
              </a:solidFill>
              <a:latin typeface="Comic Sans MS" panose="030F0702030302020204" pitchFamily="66" charset="0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q"/>
            </a:pPr>
            <a:endParaRPr lang="en-IN" dirty="0" smtClean="0">
              <a:solidFill>
                <a:schemeClr val="bg1"/>
              </a:solidFill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70499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  <a14:imgEffect>
                      <a14:sharpenSoften amount="-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itle 6"/>
          <p:cNvSpPr txBox="1">
            <a:spLocks noGrp="1"/>
          </p:cNvSpPr>
          <p:nvPr>
            <p:ph type="title"/>
          </p:nvPr>
        </p:nvSpPr>
        <p:spPr>
          <a:xfrm>
            <a:off x="838200" y="2867145"/>
            <a:ext cx="10515600" cy="1123712"/>
          </a:xfrm>
          <a:prstGeom prst="roundRect">
            <a:avLst/>
          </a:prstGeom>
          <a:noFill/>
          <a:ln>
            <a:noFill/>
          </a:ln>
        </p:spPr>
        <p:txBody>
          <a:bodyPr wrap="square" rtlCol="0" anchor="ctr">
            <a:spAutoFit/>
          </a:bodyPr>
          <a:lstStyle/>
          <a:p>
            <a:pPr lvl="0" algn="ctr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en-US" sz="6000" b="1" spc="600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</a:rPr>
              <a:t>Thank you!!</a:t>
            </a:r>
            <a:endParaRPr lang="en-IN" b="1" spc="60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5586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601</TotalTime>
  <Words>652</Words>
  <Application>Microsoft Office PowerPoint</Application>
  <PresentationFormat>Widescreen</PresentationFormat>
  <Paragraphs>137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1" baseType="lpstr">
      <vt:lpstr>Microsoft JhengHei UI</vt:lpstr>
      <vt:lpstr>Algerian</vt:lpstr>
      <vt:lpstr>Arial</vt:lpstr>
      <vt:lpstr>Calibri</vt:lpstr>
      <vt:lpstr>Calibri Light</vt:lpstr>
      <vt:lpstr>Comic Sans MS</vt:lpstr>
      <vt:lpstr>Times New Roman</vt:lpstr>
      <vt:lpstr>Wingdings</vt:lpstr>
      <vt:lpstr>Office Theme</vt:lpstr>
      <vt:lpstr>DIABETIC RETINOPATHY PREDICTION</vt:lpstr>
      <vt:lpstr>PowerPoint Presentation</vt:lpstr>
      <vt:lpstr>Project insight:-</vt:lpstr>
      <vt:lpstr>Project overview:-</vt:lpstr>
      <vt:lpstr>Process Workflow:-</vt:lpstr>
      <vt:lpstr>EDA &amp; feature engineering:-</vt:lpstr>
      <vt:lpstr>Model building:-</vt:lpstr>
      <vt:lpstr>Model deployment:-</vt:lpstr>
      <vt:lpstr>interpretation:-</vt:lpstr>
      <vt:lpstr>PowerPoint Presentation</vt:lpstr>
      <vt:lpstr>conclusion:-</vt:lpstr>
      <vt:lpstr>Thank you!!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DIABETIC RETINOPATHY PREDICTION</dc:title>
  <dc:creator>DELL</dc:creator>
  <cp:lastModifiedBy>DELL</cp:lastModifiedBy>
  <cp:revision>54</cp:revision>
  <dcterms:created xsi:type="dcterms:W3CDTF">2026-03-27T09:52:54Z</dcterms:created>
  <dcterms:modified xsi:type="dcterms:W3CDTF">2026-03-30T08:38:29Z</dcterms:modified>
</cp:coreProperties>
</file>